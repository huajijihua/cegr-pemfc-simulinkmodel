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7" r:id="rId1"/>
    <p:sldMasterId id="2147483662" r:id="rId2"/>
  </p:sldMasterIdLst>
  <p:notesMasterIdLst>
    <p:notesMasterId r:id="rId6"/>
  </p:notesMasterIdLst>
  <p:sldIdLst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78" d="100"/>
          <a:sy n="78" d="100"/>
        </p:scale>
        <p:origin x="6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700" y="620713"/>
            <a:ext cx="12192000" cy="36512"/>
          </a:xfrm>
          <a:prstGeom prst="rect">
            <a:avLst/>
          </a:prstGeom>
          <a:ln>
            <a:noFill/>
          </a:ln>
        </p:spPr>
      </p:pic>
      <p:sp>
        <p:nvSpPr>
          <p:cNvPr id="4" name="标题 8">
            <a:extLst>
              <a:ext uri="{FF2B5EF4-FFF2-40B4-BE49-F238E27FC236}">
                <a16:creationId xmlns:a16="http://schemas.microsoft.com/office/drawing/2014/main" id="{75E7CC65-5FBE-4DEB-9A7F-C13021DC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-1"/>
            <a:ext cx="10776602" cy="620713"/>
          </a:xfrm>
          <a:prstGeom prst="rect">
            <a:avLst/>
          </a:prstGeom>
        </p:spPr>
        <p:txBody>
          <a:bodyPr lIns="90134" tIns="45067" rIns="90134" bIns="45067"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800" b="1" kern="1200">
                <a:solidFill>
                  <a:srgbClr val="1F497D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5" name="内容占位符 10">
            <a:extLst>
              <a:ext uri="{FF2B5EF4-FFF2-40B4-BE49-F238E27FC236}">
                <a16:creationId xmlns:a16="http://schemas.microsoft.com/office/drawing/2014/main" id="{DB54712C-90EA-4A2F-85C2-C8B99D2161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2299" y="690562"/>
            <a:ext cx="10298237" cy="4810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rgbClr val="00487E"/>
                </a:solidFill>
                <a:latin typeface="微软雅黑"/>
                <a:ea typeface="微软雅黑"/>
                <a:cs typeface="微软雅黑"/>
              </a:defRPr>
            </a:lvl1pPr>
            <a:lvl2pPr marL="450850" indent="0">
              <a:buNone/>
              <a:defRPr sz="2000">
                <a:latin typeface="微软雅黑"/>
                <a:ea typeface="微软雅黑"/>
                <a:cs typeface="微软雅黑"/>
              </a:defRPr>
            </a:lvl2pPr>
            <a:lvl3pPr marL="901700" indent="0">
              <a:buNone/>
              <a:defRPr sz="1800">
                <a:latin typeface="微软雅黑"/>
                <a:ea typeface="微软雅黑"/>
                <a:cs typeface="微软雅黑"/>
              </a:defRPr>
            </a:lvl3pPr>
            <a:lvl4pPr marL="1352550" indent="0">
              <a:buNone/>
              <a:defRPr sz="1600">
                <a:latin typeface="微软雅黑"/>
                <a:ea typeface="微软雅黑"/>
                <a:cs typeface="微软雅黑"/>
              </a:defRPr>
            </a:lvl4pPr>
            <a:lvl5pPr marL="1803400" indent="0">
              <a:buNone/>
              <a:defRPr sz="1600">
                <a:latin typeface="微软雅黑"/>
                <a:ea typeface="微软雅黑"/>
                <a:cs typeface="微软雅黑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正文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8">
            <a:extLst>
              <a:ext uri="{FF2B5EF4-FFF2-40B4-BE49-F238E27FC236}">
                <a16:creationId xmlns:a16="http://schemas.microsoft.com/office/drawing/2014/main" id="{F74BFE06-7105-47BA-A42F-786B1D870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4" y="-1"/>
            <a:ext cx="11568607" cy="620713"/>
          </a:xfrm>
          <a:prstGeom prst="rect">
            <a:avLst/>
          </a:prstGeom>
        </p:spPr>
        <p:txBody>
          <a:bodyPr lIns="90134" tIns="45067" rIns="90134" bIns="45067"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800" b="1" kern="1200">
                <a:solidFill>
                  <a:srgbClr val="1F497D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7ACF365E-C2BD-4D55-BCCC-44C4F0231A5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2299" y="690562"/>
            <a:ext cx="10946308" cy="4810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rgbClr val="00487E"/>
                </a:solidFill>
                <a:latin typeface="微软雅黑"/>
                <a:ea typeface="微软雅黑"/>
                <a:cs typeface="微软雅黑"/>
              </a:defRPr>
            </a:lvl1pPr>
            <a:lvl2pPr marL="450850" indent="0">
              <a:buNone/>
              <a:defRPr sz="2000">
                <a:latin typeface="微软雅黑"/>
                <a:ea typeface="微软雅黑"/>
                <a:cs typeface="微软雅黑"/>
              </a:defRPr>
            </a:lvl2pPr>
            <a:lvl3pPr marL="901700" indent="0">
              <a:buNone/>
              <a:defRPr sz="1800">
                <a:latin typeface="微软雅黑"/>
                <a:ea typeface="微软雅黑"/>
                <a:cs typeface="微软雅黑"/>
              </a:defRPr>
            </a:lvl3pPr>
            <a:lvl4pPr marL="1352550" indent="0">
              <a:buNone/>
              <a:defRPr sz="1600">
                <a:latin typeface="微软雅黑"/>
                <a:ea typeface="微软雅黑"/>
                <a:cs typeface="微软雅黑"/>
              </a:defRPr>
            </a:lvl4pPr>
            <a:lvl5pPr marL="1803400" indent="0">
              <a:buNone/>
              <a:defRPr sz="1600">
                <a:latin typeface="微软雅黑"/>
                <a:ea typeface="微软雅黑"/>
                <a:cs typeface="微软雅黑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</p:txBody>
      </p:sp>
      <p:pic>
        <p:nvPicPr>
          <p:cNvPr id="15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700" y="620713"/>
            <a:ext cx="12192000" cy="3651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二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>
            <a:extLst>
              <a:ext uri="{FF2B5EF4-FFF2-40B4-BE49-F238E27FC236}">
                <a16:creationId xmlns:a16="http://schemas.microsoft.com/office/drawing/2014/main" id="{65E52781-1CB2-47B0-AEB4-7021897FD288}"/>
              </a:ext>
            </a:extLst>
          </p:cNvPr>
          <p:cNvSpPr>
            <a:spLocks noGrp="1"/>
          </p:cNvSpPr>
          <p:nvPr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76C6B0-D85D-4A20-81E8-FB3766B3780A}"/>
              </a:ext>
            </a:extLst>
          </p:cNvPr>
          <p:cNvSpPr>
            <a:spLocks noGrp="1"/>
          </p:cNvSpPr>
          <p:nvPr/>
        </p:nvSpPr>
        <p:spPr>
          <a:xfrm>
            <a:off x="5903384" y="7004052"/>
            <a:ext cx="1864783" cy="468311"/>
          </a:xfrm>
          <a:prstGeom prst="rect">
            <a:avLst/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一汽蓝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0/59/144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0ADFFB-975A-4DB8-A61F-E7426803F266}"/>
              </a:ext>
            </a:extLst>
          </p:cNvPr>
          <p:cNvSpPr>
            <a:spLocks noGrp="1"/>
          </p:cNvSpPr>
          <p:nvPr/>
        </p:nvSpPr>
        <p:spPr>
          <a:xfrm>
            <a:off x="7920569" y="7004052"/>
            <a:ext cx="1864784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一汽灰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167/169/172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B0301E-7D89-4A43-AA4B-5CE937226E38}"/>
              </a:ext>
            </a:extLst>
          </p:cNvPr>
          <p:cNvSpPr>
            <a:spLocks noGrp="1"/>
          </p:cNvSpPr>
          <p:nvPr/>
        </p:nvSpPr>
        <p:spPr>
          <a:xfrm>
            <a:off x="378890" y="6964366"/>
            <a:ext cx="5962648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PPT标准提示——</a:t>
            </a:r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字体：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微软雅黑     </a:t>
            </a: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颜色：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优先用右侧颜色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3DBBD6-DC87-40ED-90A8-63B6BA17CFEF}"/>
              </a:ext>
            </a:extLst>
          </p:cNvPr>
          <p:cNvSpPr>
            <a:spLocks noGrp="1"/>
          </p:cNvSpPr>
          <p:nvPr/>
        </p:nvSpPr>
        <p:spPr>
          <a:xfrm>
            <a:off x="9935635" y="7004052"/>
            <a:ext cx="1864784" cy="4683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标准红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192/0/0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9EBF84-6A66-407F-B5FF-1239D462B780}"/>
              </a:ext>
            </a:extLst>
          </p:cNvPr>
          <p:cNvSpPr>
            <a:spLocks noGrp="1"/>
          </p:cNvSpPr>
          <p:nvPr/>
        </p:nvSpPr>
        <p:spPr>
          <a:xfrm>
            <a:off x="10632504" y="0"/>
            <a:ext cx="1559496" cy="614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pic>
        <p:nvPicPr>
          <p:cNvPr id="19" name="图片 6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328248" y="4437112"/>
            <a:ext cx="3723870" cy="1728192"/>
          </a:xfrm>
          <a:prstGeom prst="rect">
            <a:avLst/>
          </a:prstGeom>
        </p:spPr>
      </p:pic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A52F0D1F-A36D-4969-9CB1-15E0C1549B5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46208" y="35457"/>
            <a:ext cx="9589427" cy="559059"/>
          </a:xfrm>
          <a:prstGeom prst="rect">
            <a:avLst/>
          </a:prstGeom>
        </p:spPr>
        <p:txBody>
          <a:bodyPr lIns="0" tIns="36443" rIns="0" bIns="36443" anchor="ctr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0内页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6">
            <a:extLst>
              <a:ext uri="{FF2B5EF4-FFF2-40B4-BE49-F238E27FC236}">
                <a16:creationId xmlns:a16="http://schemas.microsoft.com/office/drawing/2014/main" id="{5D0E46EE-8CBE-45E4-9013-1E12B77DE00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1081" y="968214"/>
            <a:ext cx="10561503" cy="5197089"/>
          </a:xfrm>
          <a:prstGeom prst="rect">
            <a:avLst/>
          </a:prstGeom>
        </p:spPr>
        <p:txBody>
          <a:bodyPr lIns="72886" tIns="36443" rIns="72886" bIns="36443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19" name="文本占位符 6">
            <a:extLst>
              <a:ext uri="{FF2B5EF4-FFF2-40B4-BE49-F238E27FC236}">
                <a16:creationId xmlns:a16="http://schemas.microsoft.com/office/drawing/2014/main" id="{E48E6B69-3DFB-49FA-9B55-6E09A329651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91081" y="260648"/>
            <a:ext cx="10561503" cy="559059"/>
          </a:xfrm>
          <a:prstGeom prst="rect">
            <a:avLst/>
          </a:prstGeom>
        </p:spPr>
        <p:txBody>
          <a:bodyPr lIns="72886" tIns="36443" rIns="72886" bIns="36443" anchor="ctr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A082AC79-27AB-466E-837D-5C3BA8240248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0415264" y="6356350"/>
            <a:ext cx="937320" cy="365125"/>
          </a:xfrm>
          <a:prstGeom prst="rect">
            <a:avLst/>
          </a:prstGeom>
        </p:spPr>
        <p:txBody>
          <a:bodyPr/>
          <a:lstStyle>
            <a:lvl1pPr algn="r">
              <a:buNone/>
              <a:defRPr sz="1200"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fld id="{875BDE2C-B28D-43D3-A85B-8175BF470FFE}" type="slidenum">
              <a:t>‹#›</a:t>
            </a:fld>
            <a:endParaRPr/>
          </a:p>
        </p:txBody>
      </p:sp>
      <p:sp>
        <p:nvSpPr>
          <p:cNvPr id="2" name="同侧圆角矩形 3">
            <a:extLst>
              <a:ext uri="{FF2B5EF4-FFF2-40B4-BE49-F238E27FC236}">
                <a16:creationId xmlns:a16="http://schemas.microsoft.com/office/drawing/2014/main" id="{9C06D4EF-A938-482E-AF13-2BA073ECAF1F}"/>
              </a:ext>
            </a:extLst>
          </p:cNvPr>
          <p:cNvSpPr>
            <a:spLocks noGrp="1"/>
          </p:cNvSpPr>
          <p:nvPr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3E7F03-5880-4AAF-A202-C3356075E16F}"/>
              </a:ext>
            </a:extLst>
          </p:cNvPr>
          <p:cNvSpPr>
            <a:spLocks noGrp="1"/>
          </p:cNvSpPr>
          <p:nvPr/>
        </p:nvSpPr>
        <p:spPr>
          <a:xfrm>
            <a:off x="5903384" y="7004052"/>
            <a:ext cx="1864783" cy="468311"/>
          </a:xfrm>
          <a:prstGeom prst="rect">
            <a:avLst/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latin typeface="微软雅黑"/>
                <a:ea typeface="微软雅黑"/>
                <a:cs typeface="微软雅黑"/>
              </a:rPr>
              <a:t>一汽蓝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0/59/144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C8CA63-9EE6-44E1-839E-263A02059C3B}"/>
              </a:ext>
            </a:extLst>
          </p:cNvPr>
          <p:cNvSpPr>
            <a:spLocks noGrp="1"/>
          </p:cNvSpPr>
          <p:nvPr/>
        </p:nvSpPr>
        <p:spPr>
          <a:xfrm>
            <a:off x="7920569" y="7004052"/>
            <a:ext cx="1864784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latin typeface="微软雅黑"/>
                <a:ea typeface="微软雅黑"/>
                <a:cs typeface="微软雅黑"/>
              </a:rPr>
              <a:t>一汽灰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167/169/172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BBFA1C-336E-4B90-BCB4-6D4F18A64653}"/>
              </a:ext>
            </a:extLst>
          </p:cNvPr>
          <p:cNvSpPr>
            <a:spLocks noGrp="1"/>
          </p:cNvSpPr>
          <p:nvPr/>
        </p:nvSpPr>
        <p:spPr>
          <a:xfrm>
            <a:off x="1991544" y="6964366"/>
            <a:ext cx="4349994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PPT标准提示——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字体：</a:t>
            </a:r>
            <a:r>
              <a:rPr sz="13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微软雅黑     </a:t>
            </a:r>
            <a:r>
              <a:rPr sz="13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颜色：</a:t>
            </a:r>
            <a:r>
              <a:rPr sz="13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优先用右侧颜色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4887AA-B0C7-43BB-8379-4F479B093DCC}"/>
              </a:ext>
            </a:extLst>
          </p:cNvPr>
          <p:cNvSpPr>
            <a:spLocks noGrp="1"/>
          </p:cNvSpPr>
          <p:nvPr/>
        </p:nvSpPr>
        <p:spPr>
          <a:xfrm>
            <a:off x="9935635" y="7004052"/>
            <a:ext cx="1864784" cy="4683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latin typeface="微软雅黑"/>
                <a:ea typeface="微软雅黑"/>
                <a:cs typeface="微软雅黑"/>
              </a:rPr>
              <a:t>标准红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192/0/0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636F23-5E1D-45FF-B6AA-37832CC46F55}"/>
              </a:ext>
            </a:extLst>
          </p:cNvPr>
          <p:cNvSpPr>
            <a:spLocks noGrp="1"/>
          </p:cNvSpPr>
          <p:nvPr/>
        </p:nvSpPr>
        <p:spPr>
          <a:xfrm>
            <a:off x="231650" y="6964366"/>
            <a:ext cx="1607492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正文页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31D0F6F-93DF-4C21-824C-11A730D417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5400" b="1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t>标题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DE15979-D36A-4319-A026-EF8A62724E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副标题</a:t>
            </a:r>
          </a:p>
          <a:p>
            <a:endParaRPr/>
          </a:p>
        </p:txBody>
      </p:sp>
      <p:sp>
        <p:nvSpPr>
          <p:cNvPr id="6" name="同侧圆角矩形 3">
            <a:extLst>
              <a:ext uri="{FF2B5EF4-FFF2-40B4-BE49-F238E27FC236}">
                <a16:creationId xmlns:a16="http://schemas.microsoft.com/office/drawing/2014/main" id="{767AAF68-610B-4B6B-BA7E-9BB742A85961}"/>
              </a:ext>
            </a:extLst>
          </p:cNvPr>
          <p:cNvSpPr>
            <a:spLocks noGrp="1"/>
          </p:cNvSpPr>
          <p:nvPr/>
        </p:nvSpPr>
        <p:spPr>
          <a:xfrm rot="10800000">
            <a:off x="0" y="6942142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7372C3-57F5-4C72-A9AA-732AEE7ACCB2}"/>
              </a:ext>
            </a:extLst>
          </p:cNvPr>
          <p:cNvSpPr>
            <a:spLocks noGrp="1"/>
          </p:cNvSpPr>
          <p:nvPr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解放蓝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21/42/140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7F0730-75B9-412B-8C88-31202BCA52AB}"/>
              </a:ext>
            </a:extLst>
          </p:cNvPr>
          <p:cNvSpPr>
            <a:spLocks noGrp="1"/>
          </p:cNvSpPr>
          <p:nvPr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39/150/212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E1ECA0-2246-448A-8219-E514922066DD}"/>
              </a:ext>
            </a:extLst>
          </p:cNvPr>
          <p:cNvSpPr>
            <a:spLocks noGrp="1"/>
          </p:cNvSpPr>
          <p:nvPr/>
        </p:nvSpPr>
        <p:spPr>
          <a:xfrm>
            <a:off x="2406647" y="6964366"/>
            <a:ext cx="3344336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PPT标准提示——</a:t>
            </a:r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字体：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微软雅黑     </a:t>
            </a: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颜色：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优先用右侧颜色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84B7E9-17A9-4A2D-9E62-75D8FB0BB86F}"/>
              </a:ext>
            </a:extLst>
          </p:cNvPr>
          <p:cNvSpPr>
            <a:spLocks noGrp="1"/>
          </p:cNvSpPr>
          <p:nvPr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辅助红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177/0/17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B3CA6C-AAC2-4A70-97CB-50D95F3AB51D}"/>
              </a:ext>
            </a:extLst>
          </p:cNvPr>
          <p:cNvSpPr>
            <a:spLocks noGrp="1"/>
          </p:cNvSpPr>
          <p:nvPr/>
        </p:nvSpPr>
        <p:spPr>
          <a:xfrm>
            <a:off x="231649" y="6964366"/>
            <a:ext cx="2077637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2023封面页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B9B950-4C17-4288-AB6B-B5AA2DC10FD1}"/>
              </a:ext>
            </a:extLst>
          </p:cNvPr>
          <p:cNvSpPr>
            <a:spLocks noGrp="1"/>
          </p:cNvSpPr>
          <p:nvPr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辅助灰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167/169/172</a:t>
            </a:r>
          </a:p>
        </p:txBody>
      </p:sp>
      <p:pic>
        <p:nvPicPr>
          <p:cNvPr id="2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28" name="图形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>
            <a:extLst>
              <a:ext uri="{FF2B5EF4-FFF2-40B4-BE49-F238E27FC236}">
                <a16:creationId xmlns:a16="http://schemas.microsoft.com/office/drawing/2014/main" id="{F383DB82-213D-421D-97F5-B3AB85898A07}"/>
              </a:ext>
            </a:extLst>
          </p:cNvPr>
          <p:cNvSpPr>
            <a:spLocks noGrp="1"/>
          </p:cNvSpPr>
          <p:nvPr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19" name="同侧圆角矩形 3">
            <a:extLst>
              <a:ext uri="{FF2B5EF4-FFF2-40B4-BE49-F238E27FC236}">
                <a16:creationId xmlns:a16="http://schemas.microsoft.com/office/drawing/2014/main" id="{00B885A4-7C55-4BAA-88AA-B0CE16EF4F58}"/>
              </a:ext>
            </a:extLst>
          </p:cNvPr>
          <p:cNvSpPr>
            <a:spLocks noGrp="1"/>
          </p:cNvSpPr>
          <p:nvPr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44FBBB-7CA8-4EF3-8C41-482F958B2FB7}"/>
              </a:ext>
            </a:extLst>
          </p:cNvPr>
          <p:cNvSpPr>
            <a:spLocks noGrp="1"/>
          </p:cNvSpPr>
          <p:nvPr/>
        </p:nvSpPr>
        <p:spPr>
          <a:xfrm>
            <a:off x="2406647" y="6964366"/>
            <a:ext cx="3344336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PPT标准提示——</a:t>
            </a:r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字体：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微软雅黑     </a:t>
            </a: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颜色：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优先用右侧颜色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6630BA-BC18-4224-A854-F58113B334EC}"/>
              </a:ext>
            </a:extLst>
          </p:cNvPr>
          <p:cNvSpPr>
            <a:spLocks noGrp="1"/>
          </p:cNvSpPr>
          <p:nvPr/>
        </p:nvSpPr>
        <p:spPr>
          <a:xfrm>
            <a:off x="231649" y="6964366"/>
            <a:ext cx="2077637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2023目录页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D0FEE6-6FA1-4DBA-A148-BD2D8797294B}"/>
              </a:ext>
            </a:extLst>
          </p:cNvPr>
          <p:cNvSpPr>
            <a:spLocks noGrp="1"/>
          </p:cNvSpPr>
          <p:nvPr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解放蓝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21/42/140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A8C213-254B-4CA1-AFA4-51950087E6E7}"/>
              </a:ext>
            </a:extLst>
          </p:cNvPr>
          <p:cNvSpPr>
            <a:spLocks noGrp="1"/>
          </p:cNvSpPr>
          <p:nvPr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39/150/212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E38B48-4067-43AE-BFC8-1924A58E2942}"/>
              </a:ext>
            </a:extLst>
          </p:cNvPr>
          <p:cNvSpPr>
            <a:spLocks noGrp="1"/>
          </p:cNvSpPr>
          <p:nvPr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辅助红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177/0/17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DCA8FB4-DF9A-4FB2-BDFE-982931A40D6A}"/>
              </a:ext>
            </a:extLst>
          </p:cNvPr>
          <p:cNvSpPr>
            <a:spLocks noGrp="1"/>
          </p:cNvSpPr>
          <p:nvPr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辅助灰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167/169/172</a:t>
            </a:r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B0F8D686-3A0A-44B4-AAFE-EE27E4983C59}"/>
              </a:ext>
            </a:extLst>
          </p:cNvPr>
          <p:cNvSpPr>
            <a:spLocks noGrp="1"/>
          </p:cNvSpPr>
          <p:nvPr/>
        </p:nv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2" name="图形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A4D9A107-C290-4A1C-90F2-D4124AA3ACF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目录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>
            <a:extLst>
              <a:ext uri="{FF2B5EF4-FFF2-40B4-BE49-F238E27FC236}">
                <a16:creationId xmlns:a16="http://schemas.microsoft.com/office/drawing/2014/main" id="{72FC8608-B81B-4C49-97A3-B3C146768455}"/>
              </a:ext>
            </a:extLst>
          </p:cNvPr>
          <p:cNvSpPr>
            <a:spLocks noGrp="1"/>
          </p:cNvSpPr>
          <p:nvPr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FDE758-7450-4232-9AB5-7E50749DCFCE}"/>
              </a:ext>
            </a:extLst>
          </p:cNvPr>
          <p:cNvSpPr>
            <a:spLocks noGrp="1"/>
          </p:cNvSpPr>
          <p:nvPr/>
        </p:nvSpPr>
        <p:spPr>
          <a:xfrm>
            <a:off x="2406647" y="6964366"/>
            <a:ext cx="3344336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PPT标准提示——</a:t>
            </a:r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字体：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微软雅黑     </a:t>
            </a: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颜色：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优先用右侧颜色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8701F9-5763-4732-839D-2C4D73AFE5C5}"/>
              </a:ext>
            </a:extLst>
          </p:cNvPr>
          <p:cNvSpPr>
            <a:spLocks noGrp="1"/>
          </p:cNvSpPr>
          <p:nvPr/>
        </p:nvSpPr>
        <p:spPr>
          <a:xfrm>
            <a:off x="231649" y="6964366"/>
            <a:ext cx="2077637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2023正文页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51618A70-8C3C-4645-98C7-9CFAB412AE72}"/>
              </a:ext>
            </a:extLst>
          </p:cNvPr>
          <p:cNvSpPr>
            <a:spLocks noGrp="1"/>
          </p:cNvSpPr>
          <p:nvPr/>
        </p:nvSpPr>
        <p:spPr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</p:spPr>
        <p:txBody>
          <a:bodyPr wrap="square" lIns="83199" tIns="43264" rIns="83199" bIns="43264" anchor="ctr">
            <a:spAutoFit/>
          </a:bodyPr>
          <a:lstStyle>
            <a:lvl1pPr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indent="0" algn="r" defTabSz="8464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B2DE838B-0F12-4B31-B7D1-2D0F6538ECB8}" type="slidenum">
              <a:rPr sz="1600" b="1" i="0" u="none" cap="none">
                <a:ln>
                  <a:noFill/>
                </a:ln>
                <a:solidFill>
                  <a:srgbClr val="152A8C"/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sz="1600" b="1" i="0" u="none" cap="none">
              <a:ln>
                <a:noFill/>
              </a:ln>
              <a:solidFill>
                <a:srgbClr val="152A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占位符 6">
            <a:extLst>
              <a:ext uri="{FF2B5EF4-FFF2-40B4-BE49-F238E27FC236}">
                <a16:creationId xmlns:a16="http://schemas.microsoft.com/office/drawing/2014/main" id="{42F58B8E-E974-4EE3-9B18-ECC2B1D5DF0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单击此处编辑大标题</a:t>
            </a:r>
          </a:p>
        </p:txBody>
      </p:sp>
      <p:sp>
        <p:nvSpPr>
          <p:cNvPr id="20" name="文本占位符 6">
            <a:extLst>
              <a:ext uri="{FF2B5EF4-FFF2-40B4-BE49-F238E27FC236}">
                <a16:creationId xmlns:a16="http://schemas.microsoft.com/office/drawing/2014/main" id="{988FDCF7-90BE-4D4A-BBA5-0269D0B57A8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2423C2B5-4644-4B9A-9788-5E82C4CE291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/>
          <a:lstStyle>
            <a:lvl1pPr marL="342900" indent="-342900">
              <a:lnSpc>
                <a:spcPct val="100000"/>
              </a:lnSpc>
              <a:spcBef>
                <a:spcPts val="600"/>
              </a:spcBef>
              <a:buFont typeface="Wingdings"/>
              <a:buChar char="p"/>
              <a:defRPr sz="2000" b="0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× × × × × × × × × × × × × × × × × × × × × × × × × × × × × × × × × × × ×</a:t>
            </a:r>
          </a:p>
          <a:p>
            <a:pPr marL="342900" marR="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/>
              <a:buChar char="p"/>
            </a:pPr>
            <a:r>
              <a:t>× × × × × × × × × × × × × × × × × × × × × × × × × × × × × × × × ×</a:t>
            </a:r>
          </a:p>
          <a:p>
            <a:pPr marL="342900" marR="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/>
              <a:buChar char="p"/>
            </a:pPr>
            <a:r>
              <a:t>× × × × × × × × × × × × × × × × × × × × × × × × × × × × × × × × × × × × × ×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C87F9699-D133-4134-A6F3-D98BD38BBF23}"/>
              </a:ext>
            </a:extLst>
          </p:cNvPr>
          <p:cNvSpPr>
            <a:spLocks noGrp="1"/>
          </p:cNvSpPr>
          <p:nvPr/>
        </p:nv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A3BE1E-1909-4C29-83BC-4A842AE2892E}"/>
              </a:ext>
            </a:extLst>
          </p:cNvPr>
          <p:cNvSpPr>
            <a:spLocks noGrp="1"/>
          </p:cNvSpPr>
          <p:nvPr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解放蓝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21/42/140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84CD6-6EDB-471F-B7D0-2261F2B12753}"/>
              </a:ext>
            </a:extLst>
          </p:cNvPr>
          <p:cNvSpPr>
            <a:spLocks noGrp="1"/>
          </p:cNvSpPr>
          <p:nvPr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39/150/212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771293-A6C2-4F8B-BEE1-51F3898A3D6F}"/>
              </a:ext>
            </a:extLst>
          </p:cNvPr>
          <p:cNvSpPr>
            <a:spLocks noGrp="1"/>
          </p:cNvSpPr>
          <p:nvPr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辅助红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177/0/17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B3A6C7-9808-47FF-9428-F9D684F04C0B}"/>
              </a:ext>
            </a:extLst>
          </p:cNvPr>
          <p:cNvSpPr>
            <a:spLocks noGrp="1"/>
          </p:cNvSpPr>
          <p:nvPr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辅助灰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167/169/172</a:t>
            </a:r>
          </a:p>
        </p:txBody>
      </p:sp>
      <p:pic>
        <p:nvPicPr>
          <p:cNvPr id="38" name="图形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>
            <a:extLst>
              <a:ext uri="{FF2B5EF4-FFF2-40B4-BE49-F238E27FC236}">
                <a16:creationId xmlns:a16="http://schemas.microsoft.com/office/drawing/2014/main" id="{133C4FA4-40CE-4A5A-A4D1-6470B03F4F39}"/>
              </a:ext>
            </a:extLst>
          </p:cNvPr>
          <p:cNvSpPr>
            <a:spLocks noGrp="1"/>
          </p:cNvSpPr>
          <p:nvPr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CA9BEE-AC2A-4EA5-969C-8A0D82F7F3C9}"/>
              </a:ext>
            </a:extLst>
          </p:cNvPr>
          <p:cNvSpPr>
            <a:spLocks noGrp="1"/>
          </p:cNvSpPr>
          <p:nvPr/>
        </p:nvSpPr>
        <p:spPr>
          <a:xfrm>
            <a:off x="2406647" y="6964366"/>
            <a:ext cx="3344336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PPT标准提示——</a:t>
            </a:r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字体：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微软雅黑     </a:t>
            </a:r>
            <a:r>
              <a:rPr sz="13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颜色：</a:t>
            </a:r>
            <a:r>
              <a:rPr sz="13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优先用右侧颜色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3A5AB2-C68D-4110-8771-797987F53B69}"/>
              </a:ext>
            </a:extLst>
          </p:cNvPr>
          <p:cNvSpPr>
            <a:spLocks noGrp="1"/>
          </p:cNvSpPr>
          <p:nvPr/>
        </p:nvSpPr>
        <p:spPr>
          <a:xfrm>
            <a:off x="231649" y="6964366"/>
            <a:ext cx="2077637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2023正文页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70ECFA0E-7AF3-441D-BEC3-B83268396C2F}"/>
              </a:ext>
            </a:extLst>
          </p:cNvPr>
          <p:cNvSpPr>
            <a:spLocks noGrp="1"/>
          </p:cNvSpPr>
          <p:nvPr/>
        </p:nvSpPr>
        <p:spPr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</p:spPr>
        <p:txBody>
          <a:bodyPr wrap="square" lIns="83199" tIns="43264" rIns="83199" bIns="43264" anchor="ctr">
            <a:spAutoFit/>
          </a:bodyPr>
          <a:lstStyle>
            <a:lvl1pPr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defTabSz="846455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ctr" defTabSz="846455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indent="0" algn="r" defTabSz="8464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B2DE838B-0F12-4B31-B7D1-2D0F6538ECB8}" type="slidenum">
              <a:rPr sz="1600" b="1" i="0" u="none" cap="none">
                <a:ln>
                  <a:noFill/>
                </a:ln>
                <a:solidFill>
                  <a:srgbClr val="152A8C"/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sz="1600" b="1" i="0" u="none" cap="none">
              <a:ln>
                <a:noFill/>
              </a:ln>
              <a:solidFill>
                <a:srgbClr val="152A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占位符 6">
            <a:extLst>
              <a:ext uri="{FF2B5EF4-FFF2-40B4-BE49-F238E27FC236}">
                <a16:creationId xmlns:a16="http://schemas.microsoft.com/office/drawing/2014/main" id="{51790688-829B-49BF-8D6F-B540E473F8A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单击此处编辑大标题</a:t>
            </a:r>
          </a:p>
        </p:txBody>
      </p: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1268151E-DD45-40B5-B6D8-6934E1F10B3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/>
          <a:lstStyle>
            <a:lvl1pPr marL="342900" indent="-342900">
              <a:lnSpc>
                <a:spcPct val="100000"/>
              </a:lnSpc>
              <a:spcBef>
                <a:spcPts val="600"/>
              </a:spcBef>
              <a:buFont typeface="Wingdings"/>
              <a:buChar char="p"/>
              <a:defRPr sz="2000" b="0">
                <a:solidFill>
                  <a:srgbClr val="152A8C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× × × × × × × × × × × × × × × × × × × × × × × × × × × × × × × × × × × ×</a:t>
            </a:r>
          </a:p>
          <a:p>
            <a:pPr marL="342900" marR="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/>
              <a:buChar char="p"/>
            </a:pPr>
            <a:r>
              <a:t>× × × × × × × × × × × × × × × × × × × × × × × × × × × × × × × × ×</a:t>
            </a:r>
          </a:p>
          <a:p>
            <a:pPr marL="342900" marR="0" indent="-34290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/>
              <a:buChar char="p"/>
            </a:pPr>
            <a:r>
              <a:t>× × × × × × × × × × × × × × × × × × × × × × × × × × × × × × × × × × × × × ×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5A11AAF3-82D9-4B32-A956-99D57A8A0EC5}"/>
              </a:ext>
            </a:extLst>
          </p:cNvPr>
          <p:cNvSpPr>
            <a:spLocks noGrp="1"/>
          </p:cNvSpPr>
          <p:nvPr/>
        </p:nv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CB77A8-DC06-4BE4-B80F-85FB6F5AAF3E}"/>
              </a:ext>
            </a:extLst>
          </p:cNvPr>
          <p:cNvSpPr>
            <a:spLocks noGrp="1"/>
          </p:cNvSpPr>
          <p:nvPr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解放蓝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21/42/140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43B9F0-D3D5-4E77-929E-B79B6261BF25}"/>
              </a:ext>
            </a:extLst>
          </p:cNvPr>
          <p:cNvSpPr>
            <a:spLocks noGrp="1"/>
          </p:cNvSpPr>
          <p:nvPr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辅助蓝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39/150/212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1A6E7E-28F7-4D6F-85DD-F2849400F53A}"/>
              </a:ext>
            </a:extLst>
          </p:cNvPr>
          <p:cNvSpPr>
            <a:spLocks noGrp="1"/>
          </p:cNvSpPr>
          <p:nvPr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辅助红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177/0/17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C79BBA-0A80-4111-AD76-B031D4096B19}"/>
              </a:ext>
            </a:extLst>
          </p:cNvPr>
          <p:cNvSpPr>
            <a:spLocks noGrp="1"/>
          </p:cNvSpPr>
          <p:nvPr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辅助灰</a:t>
            </a:r>
          </a:p>
          <a:p>
            <a:pPr marL="0" marR="0" indent="0" algn="ctr" defTabSz="457200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167/169/172</a:t>
            </a:r>
          </a:p>
        </p:txBody>
      </p:sp>
      <p:pic>
        <p:nvPicPr>
          <p:cNvPr id="36" name="图形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2内页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6">
            <a:extLst>
              <a:ext uri="{FF2B5EF4-FFF2-40B4-BE49-F238E27FC236}">
                <a16:creationId xmlns:a16="http://schemas.microsoft.com/office/drawing/2014/main" id="{0ED85F46-5DEE-4BD9-A984-161A2A54063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04863" y="260648"/>
            <a:ext cx="8638412" cy="559059"/>
          </a:xfrm>
          <a:prstGeom prst="rect">
            <a:avLst/>
          </a:prstGeom>
        </p:spPr>
        <p:txBody>
          <a:bodyPr lIns="72886" tIns="36443" rIns="72886" bIns="36443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12A8E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A240A2D3-6A9E-463F-A0EE-77A0901DFED8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0415264" y="6356350"/>
            <a:ext cx="971874" cy="365125"/>
          </a:xfrm>
          <a:prstGeom prst="rect">
            <a:avLst/>
          </a:prstGeom>
        </p:spPr>
        <p:txBody>
          <a:bodyPr/>
          <a:lstStyle>
            <a:lvl1pPr algn="r">
              <a:buNone/>
              <a:defRPr sz="1200">
                <a:latin typeface="微软雅黑"/>
                <a:ea typeface="微软雅黑"/>
                <a:cs typeface="微软雅黑"/>
              </a:defRPr>
            </a:lvl1pPr>
          </a:lstStyle>
          <a:p>
            <a:pPr marL="0" marR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75BDE2C-B28D-43D3-A85B-8175BF470FFE}" type="slidenum">
              <a:rPr sz="1200" b="0" i="0" u="none" cap="none">
                <a:ln>
                  <a:noFill/>
                </a:ln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sz="1200" b="0" i="0" u="none" cap="none">
              <a:ln>
                <a:noFill/>
              </a:ln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4" name="图片 13"/>
          <p:cNvPicPr>
            <a:picLocks noChangeAspect="1"/>
          </p:cNvPicPr>
          <p:nvPr/>
        </p:nvPicPr>
        <p:blipFill rotWithShape="1">
          <a:blip r:embed="rId3"/>
          <a:srcRect l="8335" t="6743" r="4277" b="54843"/>
          <a:stretch>
            <a:fillRect/>
          </a:stretch>
        </p:blipFill>
        <p:spPr>
          <a:xfrm>
            <a:off x="9443275" y="332656"/>
            <a:ext cx="1991964" cy="4753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6221186"/>
            <a:ext cx="12190187" cy="636814"/>
          </a:xfrm>
          <a:prstGeom prst="rect">
            <a:avLst/>
          </a:prstGeom>
          <a:ln w="9525">
            <a:noFill/>
            <a:miter/>
          </a:ln>
        </p:spPr>
      </p:pic>
      <p:pic>
        <p:nvPicPr>
          <p:cNvPr id="2058" name="Picture 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39183" y="6359413"/>
            <a:ext cx="1722579" cy="360363"/>
          </a:xfrm>
          <a:prstGeom prst="rect">
            <a:avLst/>
          </a:prstGeom>
          <a:ln>
            <a:noFill/>
          </a:ln>
        </p:spPr>
      </p:pic>
      <p:pic>
        <p:nvPicPr>
          <p:cNvPr id="2059" name="Picture 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272464" y="6359413"/>
            <a:ext cx="1595688" cy="360363"/>
          </a:xfrm>
          <a:prstGeom prst="rect">
            <a:avLst/>
          </a:prstGeom>
          <a:ln>
            <a:noFill/>
          </a:ln>
        </p:spPr>
      </p:pic>
      <p:sp>
        <p:nvSpPr>
          <p:cNvPr id="2052" name="矩形 4">
            <a:extLst>
              <a:ext uri="{FF2B5EF4-FFF2-40B4-BE49-F238E27FC236}">
                <a16:creationId xmlns:a16="http://schemas.microsoft.com/office/drawing/2014/main" id="{B5EB5D94-56E0-4F8D-AD75-1E1C9F3CE27B}"/>
              </a:ext>
            </a:extLst>
          </p:cNvPr>
          <p:cNvSpPr>
            <a:spLocks noGrp="1"/>
          </p:cNvSpPr>
          <p:nvPr/>
        </p:nvSpPr>
        <p:spPr>
          <a:xfrm>
            <a:off x="4572001" y="6401095"/>
            <a:ext cx="2717411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5pPr>
            <a:lvl6pPr marL="2514600" indent="-228600" defTabSz="91313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6pPr>
            <a:lvl7pPr marL="2971800" indent="-228600" defTabSz="91313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7pPr>
            <a:lvl8pPr marL="3429000" indent="-228600" defTabSz="91313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8pPr>
            <a:lvl9pPr marL="3886200" indent="-228600" defTabSz="91313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FrutigerNext LT Medium"/>
                <a:ea typeface="FrutigerNext LT Medium"/>
                <a:cs typeface="FrutigerNext LT Medium"/>
              </a:defRPr>
            </a:lvl9pPr>
          </a:lstStyle>
          <a:p>
            <a:pPr marL="0" marR="0" indent="0" algn="l" defTabSz="91313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srgbClr val="1E4E79"/>
                </a:solidFill>
                <a:latin typeface="微软雅黑"/>
                <a:ea typeface="微软雅黑"/>
                <a:cs typeface="微软雅黑"/>
              </a:rPr>
              <a:t>一汽解放 &amp; 华为版权所有，禁止扩散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74AC61-429F-4A5D-808F-3AD350CD610F}"/>
              </a:ext>
            </a:extLst>
          </p:cNvPr>
          <p:cNvSpPr>
            <a:spLocks noGrp="1"/>
          </p:cNvSpPr>
          <p:nvPr/>
        </p:nvSpPr>
        <p:spPr>
          <a:xfrm>
            <a:off x="8219464" y="6401482"/>
            <a:ext cx="1044888" cy="307777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marR="0" indent="0" algn="l" defTabSz="91313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8993CC3-19E1-4C16-A64D-D7CD73D1E52D}" type="slidenum">
              <a:rPr sz="1400" b="0" i="0" u="none" cap="none">
                <a:ln>
                  <a:noFill/>
                </a:ln>
                <a:solidFill>
                  <a:srgbClr val="1E4E79"/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sz="1400" b="0" i="0" u="none" cap="none">
              <a:ln>
                <a:noFill/>
              </a:ln>
              <a:solidFill>
                <a:srgbClr val="1E4E7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062" name="Picture 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980402" y="111987"/>
            <a:ext cx="864000" cy="3952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sldNum="0" hdr="0" ftr="0" dt="0"/>
  <p:txStyles>
    <p:titleStyle>
      <a:lvl1pPr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2pPr>
      <a:lvl3pPr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3pPr>
      <a:lvl4pPr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4pPr>
      <a:lvl5pPr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5pPr>
      <a:lvl6pPr marL="450850"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6pPr>
      <a:lvl7pPr marL="901065"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7pPr>
      <a:lvl8pPr marL="1351915"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8pPr>
      <a:lvl9pPr marL="1802765" algn="ctr">
        <a:spcBef>
          <a:spcPct val="0"/>
        </a:spcBef>
        <a:spcAft>
          <a:spcPct val="0"/>
        </a:spcAft>
        <a:buNone/>
        <a:defRPr sz="44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marL="336550" indent="-336550" algn="l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30250" indent="-279400" algn="l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25855" indent="-224155" algn="l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576705" indent="-224155" algn="l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27555" indent="-224155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478405" indent="-225425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29255" indent="-225425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380105" indent="-225425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30955" indent="-225425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0850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01065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51915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02765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53615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03830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154680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05530" algn="l" defTabSz="9010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sldNum="0"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ounded Rectangle 6">
            <a:extLst>
              <a:ext uri="{FF2B5EF4-FFF2-40B4-BE49-F238E27FC236}">
                <a16:creationId xmlns:a16="http://schemas.microsoft.com/office/drawing/2014/main" id="{9F54C5F3-20A9-AD6C-DED7-3B1A5D356245}"/>
              </a:ext>
            </a:extLst>
          </p:cNvPr>
          <p:cNvSpPr>
            <a:spLocks noGrp="1"/>
          </p:cNvSpPr>
          <p:nvPr/>
        </p:nvSpPr>
        <p:spPr>
          <a:xfrm>
            <a:off x="272660" y="1374874"/>
            <a:ext cx="7848872" cy="4262125"/>
          </a:xfrm>
          <a:prstGeom prst="roundRect">
            <a:avLst/>
          </a:prstGeom>
          <a:solidFill>
            <a:srgbClr val="FBFCFD"/>
          </a:solidFill>
          <a:ln w="1016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7454F81-C812-6ED9-863A-D60F9533430D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sz="2800" b="1" dirty="0" err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cEGR</a:t>
            </a:r>
            <a:r>
              <a:rPr sz="28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-PEMFC </a:t>
            </a:r>
            <a:r>
              <a:rPr sz="2800" b="1" dirty="0" err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系统物理网络建模平台</a:t>
            </a:r>
            <a:endParaRPr sz="2800" b="1" dirty="0">
              <a:solidFill>
                <a:srgbClr val="003B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F81A9E-F9FA-69FD-285C-BC0B21480C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9425" y="836712"/>
            <a:ext cx="11231448" cy="468452"/>
          </a:xfrm>
        </p:spPr>
        <p:txBody>
          <a:bodyPr anchor="ctr"/>
          <a:lstStyle/>
          <a:p>
            <a:r>
              <a:rPr sz="140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基于MathWorks</a:t>
            </a:r>
            <a:r>
              <a:rPr sz="1400" b="0" dirty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官方</a:t>
            </a:r>
            <a:r>
              <a:rPr sz="1400" b="0" dirty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 Gas Mixture PEM </a:t>
            </a:r>
            <a:r>
              <a:rPr sz="140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燃料电池系统案例派生，面向系统</a:t>
            </a:r>
            <a:r>
              <a:rPr lang="zh-CN" altLang="en-US" sz="1400" b="0" dirty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级</a:t>
            </a:r>
            <a:r>
              <a:rPr sz="140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性能仿真、参数匹配与策略开发</a:t>
            </a:r>
            <a:endParaRPr sz="1400" b="0" dirty="0">
              <a:solidFill>
                <a:srgbClr val="6371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6AC3C552-1EB2-DBFA-D4B7-1F2694936096}"/>
              </a:ext>
            </a:extLst>
          </p:cNvPr>
          <p:cNvSpPr>
            <a:spLocks noGrp="1"/>
          </p:cNvSpPr>
          <p:nvPr/>
        </p:nvSpPr>
        <p:spPr>
          <a:xfrm>
            <a:off x="506171" y="2372888"/>
            <a:ext cx="1033271" cy="59436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环境空气
边界输入</a:t>
            </a:r>
          </a:p>
        </p:txBody>
      </p:sp>
      <p:sp>
        <p:nvSpPr>
          <p:cNvPr id="49" name="Right Arrow 9">
            <a:extLst>
              <a:ext uri="{FF2B5EF4-FFF2-40B4-BE49-F238E27FC236}">
                <a16:creationId xmlns:a16="http://schemas.microsoft.com/office/drawing/2014/main" id="{A4941375-6CC3-3409-6D82-A3D8A973209A}"/>
              </a:ext>
            </a:extLst>
          </p:cNvPr>
          <p:cNvSpPr>
            <a:spLocks noGrp="1"/>
          </p:cNvSpPr>
          <p:nvPr/>
        </p:nvSpPr>
        <p:spPr>
          <a:xfrm>
            <a:off x="1594307" y="2555768"/>
            <a:ext cx="411480" cy="201168"/>
          </a:xfrm>
          <a:prstGeom prst="rightArrow">
            <a:avLst/>
          </a:prstGeom>
          <a:solidFill>
            <a:srgbClr val="003B90"/>
          </a:solidFill>
          <a:ln w="127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Rounded Rectangle 10">
            <a:extLst>
              <a:ext uri="{FF2B5EF4-FFF2-40B4-BE49-F238E27FC236}">
                <a16:creationId xmlns:a16="http://schemas.microsoft.com/office/drawing/2014/main" id="{0A6B79F6-9950-87D9-193C-B8E6FFB1EFD0}"/>
              </a:ext>
            </a:extLst>
          </p:cNvPr>
          <p:cNvSpPr>
            <a:spLocks noGrp="1"/>
          </p:cNvSpPr>
          <p:nvPr/>
        </p:nvSpPr>
        <p:spPr>
          <a:xfrm>
            <a:off x="2042363" y="2308879"/>
            <a:ext cx="1298448" cy="71323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供氧 / 混合
压缩机·中冷·加湿</a:t>
            </a:r>
          </a:p>
        </p:txBody>
      </p:sp>
      <p:sp>
        <p:nvSpPr>
          <p:cNvPr id="51" name="Right Arrow 11">
            <a:extLst>
              <a:ext uri="{FF2B5EF4-FFF2-40B4-BE49-F238E27FC236}">
                <a16:creationId xmlns:a16="http://schemas.microsoft.com/office/drawing/2014/main" id="{4E1E5962-C592-C1D0-78A4-DEEDA44950E3}"/>
              </a:ext>
            </a:extLst>
          </p:cNvPr>
          <p:cNvSpPr>
            <a:spLocks noGrp="1"/>
          </p:cNvSpPr>
          <p:nvPr/>
        </p:nvSpPr>
        <p:spPr>
          <a:xfrm>
            <a:off x="3377387" y="2555768"/>
            <a:ext cx="594360" cy="201168"/>
          </a:xfrm>
          <a:prstGeom prst="rightArrow">
            <a:avLst/>
          </a:prstGeom>
          <a:solidFill>
            <a:srgbClr val="003B90"/>
          </a:solidFill>
          <a:ln w="127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Rounded Rectangle 12">
            <a:extLst>
              <a:ext uri="{FF2B5EF4-FFF2-40B4-BE49-F238E27FC236}">
                <a16:creationId xmlns:a16="http://schemas.microsoft.com/office/drawing/2014/main" id="{2B81B26B-BDEA-7DEE-1AA8-BF2FE72B949B}"/>
              </a:ext>
            </a:extLst>
          </p:cNvPr>
          <p:cNvSpPr>
            <a:spLocks noGrp="1"/>
          </p:cNvSpPr>
          <p:nvPr/>
        </p:nvSpPr>
        <p:spPr>
          <a:xfrm>
            <a:off x="4072331" y="2354600"/>
            <a:ext cx="1719072" cy="1965960"/>
          </a:xfrm>
          <a:prstGeom prst="roundRect">
            <a:avLst/>
          </a:prstGeom>
          <a:solidFill>
            <a:srgbClr val="253342"/>
          </a:solidFill>
          <a:ln w="10160">
            <a:solidFill>
              <a:srgbClr val="25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lang="en-US" alt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400</a:t>
            </a:r>
            <a:r>
              <a:rPr lang="zh-CN" altLang="en-US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</a:t>
            </a:r>
            <a:r>
              <a:rPr lang="en-US" alt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280cm</a:t>
            </a:r>
            <a:r>
              <a:rPr lang="en-US" altLang="zh-CN" sz="1800" b="1" baseline="300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en-US" sz="1800" b="1" baseline="3000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</a:pPr>
            <a:r>
              <a:rPr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PEMFC
</a:t>
            </a:r>
            <a:r>
              <a:rPr sz="18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电堆核心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TextBox 13">
            <a:extLst>
              <a:ext uri="{FF2B5EF4-FFF2-40B4-BE49-F238E27FC236}">
                <a16:creationId xmlns:a16="http://schemas.microsoft.com/office/drawing/2014/main" id="{D97EAFDA-D64A-7422-A5EA-0B6238BD6379}"/>
              </a:ext>
            </a:extLst>
          </p:cNvPr>
          <p:cNvSpPr>
            <a:spLocks noGrp="1"/>
          </p:cNvSpPr>
          <p:nvPr/>
        </p:nvSpPr>
        <p:spPr>
          <a:xfrm>
            <a:off x="4258063" y="3989374"/>
            <a:ext cx="1417320" cy="21945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buNone/>
            </a:pPr>
            <a:r>
              <a:rPr sz="880" b="0" dirty="0" err="1">
                <a:solidFill>
                  <a:srgbClr val="DDE6EE"/>
                </a:solidFill>
                <a:latin typeface="Microsoft YaHei"/>
                <a:ea typeface="Microsoft YaHei"/>
                <a:cs typeface="Microsoft YaHei"/>
              </a:rPr>
              <a:t>反应</a:t>
            </a:r>
            <a:r>
              <a:rPr sz="880" b="0" dirty="0">
                <a:solidFill>
                  <a:srgbClr val="DDE6EE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880" b="0" dirty="0" err="1">
                <a:solidFill>
                  <a:srgbClr val="DDE6EE"/>
                </a:solidFill>
                <a:latin typeface="Microsoft YaHei"/>
                <a:ea typeface="Microsoft YaHei"/>
                <a:cs typeface="Microsoft YaHei"/>
              </a:rPr>
              <a:t>电压</a:t>
            </a:r>
            <a:r>
              <a:rPr sz="880" b="0" dirty="0">
                <a:solidFill>
                  <a:srgbClr val="DDE6EE"/>
                </a:solidFill>
                <a:latin typeface="Microsoft YaHei"/>
                <a:ea typeface="Microsoft YaHei"/>
                <a:cs typeface="Microsoft YaHei"/>
              </a:rPr>
              <a:t> · 热</a:t>
            </a:r>
          </a:p>
        </p:txBody>
      </p:sp>
      <p:sp>
        <p:nvSpPr>
          <p:cNvPr id="54" name="Right Arrow 14">
            <a:extLst>
              <a:ext uri="{FF2B5EF4-FFF2-40B4-BE49-F238E27FC236}">
                <a16:creationId xmlns:a16="http://schemas.microsoft.com/office/drawing/2014/main" id="{3EFD62B2-F99B-47B8-FECD-B6F3FEEB93B0}"/>
              </a:ext>
            </a:extLst>
          </p:cNvPr>
          <p:cNvSpPr>
            <a:spLocks noGrp="1"/>
          </p:cNvSpPr>
          <p:nvPr/>
        </p:nvSpPr>
        <p:spPr>
          <a:xfrm>
            <a:off x="5837123" y="2555768"/>
            <a:ext cx="420624" cy="201168"/>
          </a:xfrm>
          <a:prstGeom prst="rightArrow">
            <a:avLst/>
          </a:prstGeom>
          <a:solidFill>
            <a:srgbClr val="003B90"/>
          </a:solidFill>
          <a:ln w="127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Rounded Rectangle 15">
            <a:extLst>
              <a:ext uri="{FF2B5EF4-FFF2-40B4-BE49-F238E27FC236}">
                <a16:creationId xmlns:a16="http://schemas.microsoft.com/office/drawing/2014/main" id="{88D8ACE3-59A8-A2E3-E144-549F3D0707F5}"/>
              </a:ext>
            </a:extLst>
          </p:cNvPr>
          <p:cNvSpPr>
            <a:spLocks noGrp="1"/>
          </p:cNvSpPr>
          <p:nvPr/>
        </p:nvSpPr>
        <p:spPr>
          <a:xfrm>
            <a:off x="6285179" y="2308879"/>
            <a:ext cx="1243584" cy="71323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阴极排气
背压·水管理</a:t>
            </a:r>
          </a:p>
        </p:txBody>
      </p:sp>
      <p:sp>
        <p:nvSpPr>
          <p:cNvPr id="56" name="Up Arrow 16">
            <a:extLst>
              <a:ext uri="{FF2B5EF4-FFF2-40B4-BE49-F238E27FC236}">
                <a16:creationId xmlns:a16="http://schemas.microsoft.com/office/drawing/2014/main" id="{4025C3DC-5A82-FFA1-9B4C-F11EDE6E1871}"/>
              </a:ext>
            </a:extLst>
          </p:cNvPr>
          <p:cNvSpPr>
            <a:spLocks noGrp="1"/>
          </p:cNvSpPr>
          <p:nvPr/>
        </p:nvSpPr>
        <p:spPr>
          <a:xfrm>
            <a:off x="6769811" y="2025416"/>
            <a:ext cx="201168" cy="246888"/>
          </a:xfrm>
          <a:prstGeom prst="upArrow">
            <a:avLst/>
          </a:prstGeom>
          <a:solidFill>
            <a:srgbClr val="003B90"/>
          </a:solidFill>
          <a:ln w="127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Rounded Rectangle 17">
            <a:extLst>
              <a:ext uri="{FF2B5EF4-FFF2-40B4-BE49-F238E27FC236}">
                <a16:creationId xmlns:a16="http://schemas.microsoft.com/office/drawing/2014/main" id="{AEFC591A-A53B-3E22-63D2-2FBD40A16AB3}"/>
              </a:ext>
            </a:extLst>
          </p:cNvPr>
          <p:cNvSpPr>
            <a:spLocks noGrp="1"/>
          </p:cNvSpPr>
          <p:nvPr/>
        </p:nvSpPr>
        <p:spPr>
          <a:xfrm>
            <a:off x="6041341" y="1561500"/>
            <a:ext cx="1627632" cy="402336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cEGR 回流</a:t>
            </a:r>
            <a:br/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阀·管路·组分回混</a:t>
            </a:r>
          </a:p>
        </p:txBody>
      </p:sp>
      <p:sp>
        <p:nvSpPr>
          <p:cNvPr id="58" name="Left Arrow 18">
            <a:extLst>
              <a:ext uri="{FF2B5EF4-FFF2-40B4-BE49-F238E27FC236}">
                <a16:creationId xmlns:a16="http://schemas.microsoft.com/office/drawing/2014/main" id="{3AC158E3-E45A-35A3-3B1C-952AAC873B3A}"/>
              </a:ext>
            </a:extLst>
          </p:cNvPr>
          <p:cNvSpPr>
            <a:spLocks noGrp="1"/>
          </p:cNvSpPr>
          <p:nvPr/>
        </p:nvSpPr>
        <p:spPr>
          <a:xfrm rot="21143814">
            <a:off x="2687918" y="1885341"/>
            <a:ext cx="3240000" cy="182880"/>
          </a:xfrm>
          <a:prstGeom prst="leftArrow">
            <a:avLst/>
          </a:prstGeom>
          <a:solidFill>
            <a:srgbClr val="003B90"/>
          </a:solidFill>
          <a:ln w="1270"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TextBox 19">
            <a:extLst>
              <a:ext uri="{FF2B5EF4-FFF2-40B4-BE49-F238E27FC236}">
                <a16:creationId xmlns:a16="http://schemas.microsoft.com/office/drawing/2014/main" id="{05BFB5A6-1C02-A855-69B3-3C1B5981E824}"/>
              </a:ext>
            </a:extLst>
          </p:cNvPr>
          <p:cNvSpPr>
            <a:spLocks noGrp="1"/>
          </p:cNvSpPr>
          <p:nvPr/>
        </p:nvSpPr>
        <p:spPr>
          <a:xfrm rot="21165224">
            <a:off x="3343804" y="1697706"/>
            <a:ext cx="192024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buNone/>
            </a:pPr>
            <a:r>
              <a:rPr sz="860" b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实际回流比与氧计量比审计</a:t>
            </a:r>
          </a:p>
        </p:txBody>
      </p:sp>
      <p:sp>
        <p:nvSpPr>
          <p:cNvPr id="60" name="Rounded Rectangle 20">
            <a:extLst>
              <a:ext uri="{FF2B5EF4-FFF2-40B4-BE49-F238E27FC236}">
                <a16:creationId xmlns:a16="http://schemas.microsoft.com/office/drawing/2014/main" id="{427FD795-1E86-6563-8CD6-5ADAA4C078F4}"/>
              </a:ext>
            </a:extLst>
          </p:cNvPr>
          <p:cNvSpPr>
            <a:spLocks noGrp="1"/>
          </p:cNvSpPr>
          <p:nvPr/>
        </p:nvSpPr>
        <p:spPr>
          <a:xfrm>
            <a:off x="506171" y="3604807"/>
            <a:ext cx="1033271" cy="594360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氢源</a:t>
            </a:r>
            <a:br/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压力·组分</a:t>
            </a:r>
          </a:p>
        </p:txBody>
      </p:sp>
      <p:sp>
        <p:nvSpPr>
          <p:cNvPr id="61" name="Right Arrow 21">
            <a:extLst>
              <a:ext uri="{FF2B5EF4-FFF2-40B4-BE49-F238E27FC236}">
                <a16:creationId xmlns:a16="http://schemas.microsoft.com/office/drawing/2014/main" id="{1662E004-1F25-FFE3-66E9-B8FB282D9D0B}"/>
              </a:ext>
            </a:extLst>
          </p:cNvPr>
          <p:cNvSpPr>
            <a:spLocks noGrp="1"/>
          </p:cNvSpPr>
          <p:nvPr/>
        </p:nvSpPr>
        <p:spPr>
          <a:xfrm>
            <a:off x="1594307" y="3835928"/>
            <a:ext cx="411480" cy="201168"/>
          </a:xfrm>
          <a:prstGeom prst="rightArrow">
            <a:avLst/>
          </a:prstGeom>
          <a:solidFill>
            <a:srgbClr val="C00000"/>
          </a:solidFill>
          <a:ln w="12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E5DC5374-2690-7B7C-0DE4-9A7A6842BBC8}"/>
              </a:ext>
            </a:extLst>
          </p:cNvPr>
          <p:cNvSpPr>
            <a:spLocks noGrp="1"/>
          </p:cNvSpPr>
          <p:nvPr/>
        </p:nvSpPr>
        <p:spPr>
          <a:xfrm>
            <a:off x="2040838" y="3600255"/>
            <a:ext cx="1298448" cy="713232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阳极 BOP
减压·回流·Purge</a:t>
            </a:r>
          </a:p>
        </p:txBody>
      </p:sp>
      <p:sp>
        <p:nvSpPr>
          <p:cNvPr id="64" name="Right Arrow 24">
            <a:extLst>
              <a:ext uri="{FF2B5EF4-FFF2-40B4-BE49-F238E27FC236}">
                <a16:creationId xmlns:a16="http://schemas.microsoft.com/office/drawing/2014/main" id="{0E1B0B16-3948-9B9B-8DA6-4B649576E756}"/>
              </a:ext>
            </a:extLst>
          </p:cNvPr>
          <p:cNvSpPr>
            <a:spLocks noGrp="1"/>
          </p:cNvSpPr>
          <p:nvPr/>
        </p:nvSpPr>
        <p:spPr>
          <a:xfrm rot="2106004">
            <a:off x="5828311" y="4109629"/>
            <a:ext cx="486819" cy="176999"/>
          </a:xfrm>
          <a:prstGeom prst="rightArrow">
            <a:avLst/>
          </a:prstGeom>
          <a:solidFill>
            <a:srgbClr val="D99000"/>
          </a:solidFill>
          <a:ln w="1270"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Rounded Rectangle 25">
            <a:extLst>
              <a:ext uri="{FF2B5EF4-FFF2-40B4-BE49-F238E27FC236}">
                <a16:creationId xmlns:a16="http://schemas.microsoft.com/office/drawing/2014/main" id="{D5038F82-B118-CCBC-BF94-E00192E26711}"/>
              </a:ext>
            </a:extLst>
          </p:cNvPr>
          <p:cNvSpPr>
            <a:spLocks noGrp="1"/>
          </p:cNvSpPr>
          <p:nvPr/>
        </p:nvSpPr>
        <p:spPr>
          <a:xfrm>
            <a:off x="6321755" y="4027951"/>
            <a:ext cx="1335024" cy="594360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电气边界</a:t>
            </a:r>
            <a:br/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受控负载·测量</a:t>
            </a:r>
          </a:p>
        </p:txBody>
      </p:sp>
      <p:sp>
        <p:nvSpPr>
          <p:cNvPr id="66" name="Down Arrow 26">
            <a:extLst>
              <a:ext uri="{FF2B5EF4-FFF2-40B4-BE49-F238E27FC236}">
                <a16:creationId xmlns:a16="http://schemas.microsoft.com/office/drawing/2014/main" id="{686727EC-72B4-2FE1-33D2-EDD82DA06CF8}"/>
              </a:ext>
            </a:extLst>
          </p:cNvPr>
          <p:cNvSpPr>
            <a:spLocks noGrp="1"/>
          </p:cNvSpPr>
          <p:nvPr/>
        </p:nvSpPr>
        <p:spPr>
          <a:xfrm>
            <a:off x="4833315" y="4410496"/>
            <a:ext cx="201168" cy="365760"/>
          </a:xfrm>
          <a:prstGeom prst="downArrow">
            <a:avLst/>
          </a:prstGeom>
          <a:solidFill>
            <a:srgbClr val="007E8A"/>
          </a:solidFill>
          <a:ln w="127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503179EC-3985-ED17-2D2C-33E1A31591A5}"/>
              </a:ext>
            </a:extLst>
          </p:cNvPr>
          <p:cNvSpPr>
            <a:spLocks noGrp="1"/>
          </p:cNvSpPr>
          <p:nvPr/>
        </p:nvSpPr>
        <p:spPr>
          <a:xfrm>
            <a:off x="3514547" y="4848392"/>
            <a:ext cx="2898648" cy="557784"/>
          </a:xfrm>
          <a:prstGeom prst="roundRect">
            <a:avLst/>
          </a:prstGeom>
          <a:solidFill>
            <a:srgbClr val="E6F5F6"/>
          </a:solidFill>
          <a:ln w="1270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3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热管理 BOP
冷却回路 · 泵 · 散热器 · 堆温控制</a:t>
            </a:r>
          </a:p>
        </p:txBody>
      </p:sp>
      <p:sp>
        <p:nvSpPr>
          <p:cNvPr id="78" name="箭头: 上下 77">
            <a:extLst>
              <a:ext uri="{FF2B5EF4-FFF2-40B4-BE49-F238E27FC236}">
                <a16:creationId xmlns:a16="http://schemas.microsoft.com/office/drawing/2014/main" id="{665586EC-D815-69D7-BFF2-3005295AC3E9}"/>
              </a:ext>
            </a:extLst>
          </p:cNvPr>
          <p:cNvSpPr>
            <a:spLocks noGrp="1"/>
          </p:cNvSpPr>
          <p:nvPr/>
        </p:nvSpPr>
        <p:spPr>
          <a:xfrm rot="5400000">
            <a:off x="3578519" y="3659871"/>
            <a:ext cx="201600" cy="594000"/>
          </a:xfrm>
          <a:prstGeom prst="upDownArrow">
            <a:avLst/>
          </a:prstGeom>
          <a:solidFill>
            <a:srgbClr val="C00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Rounded Rectangle 37">
            <a:extLst>
              <a:ext uri="{FF2B5EF4-FFF2-40B4-BE49-F238E27FC236}">
                <a16:creationId xmlns:a16="http://schemas.microsoft.com/office/drawing/2014/main" id="{AF378576-DC5C-3826-00E1-C8FF0A1B60CB}"/>
              </a:ext>
            </a:extLst>
          </p:cNvPr>
          <p:cNvSpPr>
            <a:spLocks noGrp="1"/>
          </p:cNvSpPr>
          <p:nvPr/>
        </p:nvSpPr>
        <p:spPr>
          <a:xfrm>
            <a:off x="411480" y="6327648"/>
            <a:ext cx="3566160" cy="384048"/>
          </a:xfrm>
          <a:prstGeom prst="roundRect">
            <a:avLst/>
          </a:prstGeom>
          <a:solidFill>
            <a:srgbClr val="E8F1FA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59436" rIns="118872" bIns="59436" anchor="ctr"/>
          <a:lstStyle/>
          <a:p>
            <a:pPr algn="ctr">
              <a:buNone/>
            </a:pPr>
            <a:r>
              <a:rPr sz="850" b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物理内核  |  复用官方 FuelCell / Simscape 网络</a:t>
            </a:r>
          </a:p>
        </p:txBody>
      </p:sp>
      <p:sp>
        <p:nvSpPr>
          <p:cNvPr id="82" name="Rectangle 38">
            <a:extLst>
              <a:ext uri="{FF2B5EF4-FFF2-40B4-BE49-F238E27FC236}">
                <a16:creationId xmlns:a16="http://schemas.microsoft.com/office/drawing/2014/main" id="{36970405-2EC5-97AC-CBE6-3FC0D271CD7D}"/>
              </a:ext>
            </a:extLst>
          </p:cNvPr>
          <p:cNvSpPr>
            <a:spLocks noGrp="1"/>
          </p:cNvSpPr>
          <p:nvPr/>
        </p:nvSpPr>
        <p:spPr>
          <a:xfrm>
            <a:off x="411480" y="6327648"/>
            <a:ext cx="73152" cy="384048"/>
          </a:xfrm>
          <a:prstGeom prst="rect">
            <a:avLst/>
          </a:prstGeom>
          <a:solidFill>
            <a:srgbClr val="003B90"/>
          </a:solidFill>
          <a:ln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Rounded Rectangle 39">
            <a:extLst>
              <a:ext uri="{FF2B5EF4-FFF2-40B4-BE49-F238E27FC236}">
                <a16:creationId xmlns:a16="http://schemas.microsoft.com/office/drawing/2014/main" id="{8EABAC77-8596-E804-5B91-399B273437A2}"/>
              </a:ext>
            </a:extLst>
          </p:cNvPr>
          <p:cNvSpPr>
            <a:spLocks noGrp="1"/>
          </p:cNvSpPr>
          <p:nvPr/>
        </p:nvSpPr>
        <p:spPr>
          <a:xfrm>
            <a:off x="4160520" y="6327648"/>
            <a:ext cx="3566160" cy="384048"/>
          </a:xfrm>
          <a:prstGeom prst="roundRect">
            <a:avLst/>
          </a:prstGeom>
          <a:solidFill>
            <a:srgbClr val="E6F5F6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59436" rIns="118872" bIns="59436" anchor="ctr"/>
          <a:lstStyle/>
          <a:p>
            <a:pPr algn="ctr">
              <a:buNone/>
            </a:pPr>
            <a:r>
              <a:rPr sz="850" b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系统级耦合  |  气体 · 水 · 热 · 电与控制共同求解</a:t>
            </a:r>
          </a:p>
        </p:txBody>
      </p:sp>
      <p:sp>
        <p:nvSpPr>
          <p:cNvPr id="84" name="Rectangle 40">
            <a:extLst>
              <a:ext uri="{FF2B5EF4-FFF2-40B4-BE49-F238E27FC236}">
                <a16:creationId xmlns:a16="http://schemas.microsoft.com/office/drawing/2014/main" id="{C5170E9A-FEAE-7EB5-E25F-3CB3324DBA03}"/>
              </a:ext>
            </a:extLst>
          </p:cNvPr>
          <p:cNvSpPr>
            <a:spLocks noGrp="1"/>
          </p:cNvSpPr>
          <p:nvPr/>
        </p:nvSpPr>
        <p:spPr>
          <a:xfrm>
            <a:off x="4160520" y="6327648"/>
            <a:ext cx="73152" cy="38404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Rounded Rectangle 41">
            <a:extLst>
              <a:ext uri="{FF2B5EF4-FFF2-40B4-BE49-F238E27FC236}">
                <a16:creationId xmlns:a16="http://schemas.microsoft.com/office/drawing/2014/main" id="{5EE0666F-FE4F-1243-893D-2F63998A1BB4}"/>
              </a:ext>
            </a:extLst>
          </p:cNvPr>
          <p:cNvSpPr>
            <a:spLocks noGrp="1"/>
          </p:cNvSpPr>
          <p:nvPr/>
        </p:nvSpPr>
        <p:spPr>
          <a:xfrm>
            <a:off x="7909560" y="6327648"/>
            <a:ext cx="3703320" cy="384048"/>
          </a:xfrm>
          <a:prstGeom prst="roundRect">
            <a:avLst/>
          </a:prstGeom>
          <a:solidFill>
            <a:srgbClr val="FFF4D6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59436" rIns="118872" bIns="59436" anchor="ctr"/>
          <a:lstStyle/>
          <a:p>
            <a:pPr algn="ctr">
              <a:buNone/>
            </a:pPr>
            <a:r>
              <a:rPr sz="850" b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边界清晰  |  部件效率与能力输入成为实际系统的虚拟样机</a:t>
            </a:r>
          </a:p>
        </p:txBody>
      </p:sp>
      <p:sp>
        <p:nvSpPr>
          <p:cNvPr id="86" name="Rectangle 42">
            <a:extLst>
              <a:ext uri="{FF2B5EF4-FFF2-40B4-BE49-F238E27FC236}">
                <a16:creationId xmlns:a16="http://schemas.microsoft.com/office/drawing/2014/main" id="{D1AB2218-B685-E5AB-9C24-5D47B83E1E17}"/>
              </a:ext>
            </a:extLst>
          </p:cNvPr>
          <p:cNvSpPr>
            <a:spLocks noGrp="1"/>
          </p:cNvSpPr>
          <p:nvPr/>
        </p:nvSpPr>
        <p:spPr>
          <a:xfrm>
            <a:off x="7909560" y="6327648"/>
            <a:ext cx="73152" cy="384048"/>
          </a:xfrm>
          <a:prstGeom prst="rect">
            <a:avLst/>
          </a:prstGeom>
          <a:solidFill>
            <a:srgbClr val="D99000"/>
          </a:solidFill>
          <a:ln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0" name="Rectangle 1">
            <a:extLst>
              <a:ext uri="{FF2B5EF4-FFF2-40B4-BE49-F238E27FC236}">
                <a16:creationId xmlns:a16="http://schemas.microsoft.com/office/drawing/2014/main" id="{A338BC75-7D7A-5E96-DAFD-483A08CFE09C}"/>
              </a:ext>
            </a:extLst>
          </p:cNvPr>
          <p:cNvSpPr>
            <a:spLocks noGrp="1"/>
          </p:cNvSpPr>
          <p:nvPr/>
        </p:nvSpPr>
        <p:spPr>
          <a:xfrm>
            <a:off x="8267836" y="3732642"/>
            <a:ext cx="3493329" cy="20934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说明：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采用 N2、O2、H2 和 H2O 四组分物理网络，耦合 MEA 电化学反应、气体传输、水蒸气迁移与热管理，计算电堆电压、功率、温度及反应物流状态。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在官方系统基础上，模型新增阴极尾气循环（cEGR）支路，将阴极排气经背压、水管理与可控回流阀返回压缩机入口，并与空气供给、OER、氧过量系数和电堆负载共同闭环。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Rounded Rectangle 29">
            <a:extLst>
              <a:ext uri="{FF2B5EF4-FFF2-40B4-BE49-F238E27FC236}">
                <a16:creationId xmlns:a16="http://schemas.microsoft.com/office/drawing/2014/main" id="{DB92BF4C-F021-3D78-1453-31CA0D894C1B}"/>
              </a:ext>
            </a:extLst>
          </p:cNvPr>
          <p:cNvSpPr>
            <a:spLocks noGrp="1"/>
          </p:cNvSpPr>
          <p:nvPr/>
        </p:nvSpPr>
        <p:spPr>
          <a:xfrm>
            <a:off x="8321040" y="1561500"/>
            <a:ext cx="3291840" cy="1917812"/>
          </a:xfrm>
          <a:prstGeom prst="roundRect">
            <a:avLst/>
          </a:prstGeom>
          <a:solidFill>
            <a:srgbClr val="F2F5F7"/>
          </a:solidFill>
          <a:ln w="1143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" name="TextBox 30">
            <a:extLst>
              <a:ext uri="{FF2B5EF4-FFF2-40B4-BE49-F238E27FC236}">
                <a16:creationId xmlns:a16="http://schemas.microsoft.com/office/drawing/2014/main" id="{9EB22F8D-2965-8407-345D-9CCDDCAAA6E9}"/>
              </a:ext>
            </a:extLst>
          </p:cNvPr>
          <p:cNvSpPr>
            <a:spLocks noGrp="1"/>
          </p:cNvSpPr>
          <p:nvPr/>
        </p:nvSpPr>
        <p:spPr>
          <a:xfrm>
            <a:off x="8595361" y="1648935"/>
            <a:ext cx="2697480" cy="3017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控制与观测</a:t>
            </a:r>
          </a:p>
        </p:txBody>
      </p:sp>
      <p:sp>
        <p:nvSpPr>
          <p:cNvPr id="93" name="Connector 31">
            <a:extLst>
              <a:ext uri="{FF2B5EF4-FFF2-40B4-BE49-F238E27FC236}">
                <a16:creationId xmlns:a16="http://schemas.microsoft.com/office/drawing/2014/main" id="{A4FC168F-A514-4B36-A0E3-9F0A7DF576D6}"/>
              </a:ext>
            </a:extLst>
          </p:cNvPr>
          <p:cNvSpPr>
            <a:spLocks noGrp="1"/>
          </p:cNvSpPr>
          <p:nvPr/>
        </p:nvSpPr>
        <p:spPr>
          <a:xfrm>
            <a:off x="8622793" y="2025416"/>
            <a:ext cx="2670048" cy="0"/>
          </a:xfrm>
          <a:prstGeom prst="line">
            <a:avLst/>
          </a:prstGeom>
          <a:ln w="7620">
            <a:solidFill>
              <a:srgbClr val="CB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4" name="TextBox 32">
            <a:extLst>
              <a:ext uri="{FF2B5EF4-FFF2-40B4-BE49-F238E27FC236}">
                <a16:creationId xmlns:a16="http://schemas.microsoft.com/office/drawing/2014/main" id="{77C6829D-48BC-C117-00BD-50872443F11E}"/>
              </a:ext>
            </a:extLst>
          </p:cNvPr>
          <p:cNvSpPr>
            <a:spLocks noGrp="1"/>
          </p:cNvSpPr>
          <p:nvPr/>
        </p:nvSpPr>
        <p:spPr>
          <a:xfrm>
            <a:off x="8604505" y="2216861"/>
            <a:ext cx="2697480" cy="9963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050" b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（1）  负载 / 空气 / cEGR / 背压 / 热管理</a:t>
            </a:r>
            <a:br/>
            <a:r>
              <a:rPr sz="1050" b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（2）  环境与边界条件</a:t>
            </a:r>
            <a:br/>
            <a:r>
              <a:rPr sz="1050" b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（3）  控制可用测量</a:t>
            </a:r>
            <a:br/>
            <a:r>
              <a:rPr sz="1050" b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（4）  守恒、状态与执行器审计</a:t>
            </a:r>
          </a:p>
        </p:txBody>
      </p:sp>
      <p:sp>
        <p:nvSpPr>
          <p:cNvPr id="4" name="TextBox 30">
            <a:extLst>
              <a:ext uri="{FF2B5EF4-FFF2-40B4-BE49-F238E27FC236}">
                <a16:creationId xmlns:a16="http://schemas.microsoft.com/office/drawing/2014/main" id="{3D7779DA-4DE4-E6D7-805E-8A7440CE20EA}"/>
              </a:ext>
            </a:extLst>
          </p:cNvPr>
          <p:cNvSpPr>
            <a:spLocks noGrp="1"/>
          </p:cNvSpPr>
          <p:nvPr/>
        </p:nvSpPr>
        <p:spPr>
          <a:xfrm>
            <a:off x="541551" y="1647414"/>
            <a:ext cx="2697480" cy="3017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600" b="1">
                <a:latin typeface="Microsoft YaHei"/>
                <a:ea typeface="Microsoft YaHei"/>
                <a:cs typeface="Microsoft YaHei"/>
              </a:rPr>
              <a:t>通用型系统结构</a:t>
            </a:r>
          </a:p>
        </p:txBody>
      </p:sp>
      <p:sp>
        <p:nvSpPr>
          <p:cNvPr id="5" name="箭头: 左右 4">
            <a:extLst>
              <a:ext uri="{FF2B5EF4-FFF2-40B4-BE49-F238E27FC236}">
                <a16:creationId xmlns:a16="http://schemas.microsoft.com/office/drawing/2014/main" id="{FEE3DE36-35C3-D8D6-B996-CD5F875A763D}"/>
              </a:ext>
            </a:extLst>
          </p:cNvPr>
          <p:cNvSpPr/>
          <p:nvPr/>
        </p:nvSpPr>
        <p:spPr>
          <a:xfrm>
            <a:off x="7812718" y="2438740"/>
            <a:ext cx="791787" cy="29988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6F5E83F-7E12-1003-AE7C-038FBE84CB0B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恒电流</a:t>
            </a:r>
            <a:r>
              <a:rPr lang="en-US" altLang="zh-CN" sz="28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zh-CN" altLang="en-US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恒流量</a:t>
            </a:r>
            <a:r>
              <a:rPr lang="zh-CN" altLang="en-US" sz="28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多工况研究示例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97E8B9-1954-2E1E-089C-8D8B6BA231A1}"/>
              </a:ext>
            </a:extLst>
          </p:cNvPr>
          <p:cNvSpPr>
            <a:spLocks noGrp="1"/>
          </p:cNvSpPr>
          <p:nvPr/>
        </p:nvSpPr>
        <p:spPr>
          <a:xfrm>
            <a:off x="463352" y="988789"/>
            <a:ext cx="10515600" cy="21698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05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固定总压缩机流量下，cEGR</a:t>
            </a:r>
            <a:r>
              <a:rPr sz="1050" b="0" dirty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对供氧与堆性能的影响可量化</a:t>
            </a:r>
            <a:endParaRPr sz="1050" b="0" dirty="0">
              <a:solidFill>
                <a:srgbClr val="6371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5778E0C3-79EA-0FC3-7592-E8027ED07C6B}"/>
              </a:ext>
            </a:extLst>
          </p:cNvPr>
          <p:cNvSpPr>
            <a:spLocks noGrp="1"/>
          </p:cNvSpPr>
          <p:nvPr/>
        </p:nvSpPr>
        <p:spPr>
          <a:xfrm>
            <a:off x="434722" y="1324341"/>
            <a:ext cx="11292840" cy="384048"/>
          </a:xfrm>
          <a:prstGeom prst="roundRect">
            <a:avLst/>
          </a:prstGeom>
          <a:solidFill>
            <a:srgbClr val="EEF4F9"/>
          </a:solidFill>
          <a:ln w="7620"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>
              <a:buNone/>
            </a:pPr>
            <a:r>
              <a:rPr lang="zh-CN" altLang="en-US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恒电流</a:t>
            </a:r>
            <a:r>
              <a:rPr lang="en-US" altLang="zh-CN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密度</a:t>
            </a:r>
            <a:r>
              <a:rPr lang="en-US" altLang="zh-CN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lang="zh-CN" altLang="en-US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56</a:t>
            </a:r>
            <a:r>
              <a:rPr lang="en-US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(0.2)</a:t>
            </a:r>
            <a:r>
              <a:rPr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 / 196</a:t>
            </a:r>
            <a:r>
              <a:rPr lang="en-US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(0.7)</a:t>
            </a:r>
            <a:r>
              <a:rPr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 / 336</a:t>
            </a:r>
            <a:r>
              <a:rPr lang="en-US"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(1.2)</a:t>
            </a:r>
            <a:r>
              <a:rPr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 |  </a:t>
            </a:r>
            <a:r>
              <a:rPr sz="1100" b="1" dirty="0" err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cEGR</a:t>
            </a:r>
            <a:r>
              <a:rPr sz="1100" b="1" dirty="0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 0 / 0.10 / 0.30  |  600 s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1970EC5-22E5-BAA7-9CBF-647B31CED8DD}"/>
              </a:ext>
            </a:extLst>
          </p:cNvPr>
          <p:cNvSpPr>
            <a:spLocks noGrp="1"/>
          </p:cNvSpPr>
          <p:nvPr/>
        </p:nvSpPr>
        <p:spPr>
          <a:xfrm>
            <a:off x="417632" y="1955107"/>
            <a:ext cx="5212080" cy="2514600"/>
          </a:xfrm>
          <a:prstGeom prst="roundRect">
            <a:avLst/>
          </a:prstGeom>
          <a:solidFill>
            <a:srgbClr val="FBFCFD"/>
          </a:solidFill>
          <a:ln w="1016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13544EE6-327F-956D-ACAE-EAE6A3424822}"/>
              </a:ext>
            </a:extLst>
          </p:cNvPr>
          <p:cNvSpPr>
            <a:spLocks noGrp="1"/>
          </p:cNvSpPr>
          <p:nvPr/>
        </p:nvSpPr>
        <p:spPr>
          <a:xfrm>
            <a:off x="582224" y="2046547"/>
            <a:ext cx="4882896" cy="2453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3x3 恒流多工况主证据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0044C48-87C9-ABF1-AF02-459BBA9DDB1E}"/>
              </a:ext>
            </a:extLst>
          </p:cNvPr>
          <p:cNvSpPr>
            <a:spLocks noGrp="1"/>
          </p:cNvSpPr>
          <p:nvPr/>
        </p:nvSpPr>
        <p:spPr>
          <a:xfrm>
            <a:off x="582224" y="2293435"/>
            <a:ext cx="4882896" cy="18592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860" b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单元：堆功率 kW / 最低氧计量比，尾窗均值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F593EA4D-8CB6-9835-FC4B-99B36CD4B123}"/>
              </a:ext>
            </a:extLst>
          </p:cNvPr>
          <p:cNvSpPr>
            <a:spLocks noGrp="1"/>
          </p:cNvSpPr>
          <p:nvPr/>
        </p:nvSpPr>
        <p:spPr>
          <a:xfrm>
            <a:off x="600512" y="2558611"/>
            <a:ext cx="1700784" cy="338328"/>
          </a:xfrm>
          <a:prstGeom prst="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950" b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P (kW) / 最低 lambda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540DE973-56B2-4C9B-1E13-1A045076FEFB}"/>
              </a:ext>
            </a:extLst>
          </p:cNvPr>
          <p:cNvSpPr>
            <a:spLocks noGrp="1"/>
          </p:cNvSpPr>
          <p:nvPr/>
        </p:nvSpPr>
        <p:spPr>
          <a:xfrm>
            <a:off x="2301296" y="2558611"/>
            <a:ext cx="1048511" cy="338328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9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低 56 A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8CD0802D-B0C5-7459-3E6D-449DB4165E7A}"/>
              </a:ext>
            </a:extLst>
          </p:cNvPr>
          <p:cNvSpPr>
            <a:spLocks noGrp="1"/>
          </p:cNvSpPr>
          <p:nvPr/>
        </p:nvSpPr>
        <p:spPr>
          <a:xfrm>
            <a:off x="3349808" y="2558611"/>
            <a:ext cx="1048511" cy="338328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9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标称 196 A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918C2E6C-B3AE-CB09-2B8B-859D9C0F9C4B}"/>
              </a:ext>
            </a:extLst>
          </p:cNvPr>
          <p:cNvSpPr>
            <a:spLocks noGrp="1"/>
          </p:cNvSpPr>
          <p:nvPr/>
        </p:nvSpPr>
        <p:spPr>
          <a:xfrm>
            <a:off x="4398319" y="2558611"/>
            <a:ext cx="1048511" cy="338328"/>
          </a:xfrm>
          <a:prstGeom prst="rect">
            <a:avLst/>
          </a:prstGeom>
          <a:solidFill>
            <a:srgbClr val="E4F4F7"/>
          </a:solidFill>
          <a:ln>
            <a:solidFill>
              <a:srgbClr val="E4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950" b="1" dirty="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高 336 A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D8B0E78F-A9A3-8BA3-58A6-49939BD5A824}"/>
              </a:ext>
            </a:extLst>
          </p:cNvPr>
          <p:cNvSpPr>
            <a:spLocks noGrp="1"/>
          </p:cNvSpPr>
          <p:nvPr/>
        </p:nvSpPr>
        <p:spPr>
          <a:xfrm>
            <a:off x="600512" y="2896939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l">
              <a:buNone/>
            </a:pPr>
            <a:r>
              <a:rPr sz="880" b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cEGR 0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E23F7DE5-7F70-F53D-B1DC-71712041F1B6}"/>
              </a:ext>
            </a:extLst>
          </p:cNvPr>
          <p:cNvSpPr>
            <a:spLocks noGrp="1"/>
          </p:cNvSpPr>
          <p:nvPr/>
        </p:nvSpPr>
        <p:spPr>
          <a:xfrm>
            <a:off x="2301296" y="2896939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23.41 / 4.00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A5D0AF38-E8E4-37FE-D5D1-DAC249FBD553}"/>
              </a:ext>
            </a:extLst>
          </p:cNvPr>
          <p:cNvSpPr>
            <a:spLocks noGrp="1"/>
          </p:cNvSpPr>
          <p:nvPr/>
        </p:nvSpPr>
        <p:spPr>
          <a:xfrm>
            <a:off x="3349808" y="2896939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7E8A"/>
                </a:solidFill>
                <a:latin typeface="Microsoft YaHei"/>
                <a:ea typeface="Microsoft YaHei"/>
                <a:cs typeface="Microsoft YaHei"/>
              </a:rPr>
              <a:t>77.41 / 3.00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A6DC77F9-7841-E4B6-890B-19F1EE4A1322}"/>
              </a:ext>
            </a:extLst>
          </p:cNvPr>
          <p:cNvSpPr>
            <a:spLocks noGrp="1"/>
          </p:cNvSpPr>
          <p:nvPr/>
        </p:nvSpPr>
        <p:spPr>
          <a:xfrm>
            <a:off x="4398319" y="2896939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123.74 / 2.00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72820B8E-8663-5C7C-62F3-D09A83F60DF5}"/>
              </a:ext>
            </a:extLst>
          </p:cNvPr>
          <p:cNvSpPr>
            <a:spLocks noGrp="1"/>
          </p:cNvSpPr>
          <p:nvPr/>
        </p:nvSpPr>
        <p:spPr>
          <a:xfrm>
            <a:off x="600512" y="3235266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l">
              <a:buNone/>
            </a:pPr>
            <a:r>
              <a:rPr sz="880" b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cEGR 0.10</a:t>
            </a: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57B7F14B-CB4E-D4F9-45E2-D2672262F8C3}"/>
              </a:ext>
            </a:extLst>
          </p:cNvPr>
          <p:cNvSpPr>
            <a:spLocks noGrp="1"/>
          </p:cNvSpPr>
          <p:nvPr/>
        </p:nvSpPr>
        <p:spPr>
          <a:xfrm>
            <a:off x="2301296" y="3235266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23.35 / 3.86</a:t>
            </a: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67DC8DC0-A768-055D-9036-1CBEA12F61F6}"/>
              </a:ext>
            </a:extLst>
          </p:cNvPr>
          <p:cNvSpPr>
            <a:spLocks noGrp="1"/>
          </p:cNvSpPr>
          <p:nvPr/>
        </p:nvSpPr>
        <p:spPr>
          <a:xfrm>
            <a:off x="3349808" y="3235266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7E8A"/>
                </a:solidFill>
                <a:latin typeface="Microsoft YaHei"/>
                <a:ea typeface="Microsoft YaHei"/>
                <a:cs typeface="Microsoft YaHei"/>
              </a:rPr>
              <a:t>77.21 / 2.87</a:t>
            </a: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34905F13-0EF0-EE78-1040-ECE50E47303D}"/>
              </a:ext>
            </a:extLst>
          </p:cNvPr>
          <p:cNvSpPr>
            <a:spLocks noGrp="1"/>
          </p:cNvSpPr>
          <p:nvPr/>
        </p:nvSpPr>
        <p:spPr>
          <a:xfrm>
            <a:off x="4398319" y="3235266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123.34 / 1.88</a:t>
            </a: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1AA064C9-CB34-5320-5EA1-93CF10BD96C4}"/>
              </a:ext>
            </a:extLst>
          </p:cNvPr>
          <p:cNvSpPr>
            <a:spLocks noGrp="1"/>
          </p:cNvSpPr>
          <p:nvPr/>
        </p:nvSpPr>
        <p:spPr>
          <a:xfrm>
            <a:off x="600512" y="3573595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l">
              <a:buNone/>
            </a:pPr>
            <a:r>
              <a:rPr sz="880" b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cEGR 0.30</a:t>
            </a: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3F8E607C-AAA2-A156-47D4-AF9D4815C263}"/>
              </a:ext>
            </a:extLst>
          </p:cNvPr>
          <p:cNvSpPr>
            <a:spLocks noGrp="1"/>
          </p:cNvSpPr>
          <p:nvPr/>
        </p:nvSpPr>
        <p:spPr>
          <a:xfrm>
            <a:off x="2301296" y="3573595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23.21 / 3.44</a:t>
            </a:r>
          </a:p>
        </p:txBody>
      </p:sp>
      <p:sp>
        <p:nvSpPr>
          <p:cNvPr id="24" name="Rectangle 26">
            <a:extLst>
              <a:ext uri="{FF2B5EF4-FFF2-40B4-BE49-F238E27FC236}">
                <a16:creationId xmlns:a16="http://schemas.microsoft.com/office/drawing/2014/main" id="{DDE0F72B-2A08-D97F-2B08-BD4CE8D3E312}"/>
              </a:ext>
            </a:extLst>
          </p:cNvPr>
          <p:cNvSpPr>
            <a:spLocks noGrp="1"/>
          </p:cNvSpPr>
          <p:nvPr/>
        </p:nvSpPr>
        <p:spPr>
          <a:xfrm>
            <a:off x="3349808" y="3573595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7E8A"/>
                </a:solidFill>
                <a:latin typeface="Microsoft YaHei"/>
                <a:ea typeface="Microsoft YaHei"/>
                <a:cs typeface="Microsoft YaHei"/>
              </a:rPr>
              <a:t>76.74 / 2.49</a:t>
            </a:r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9C9D3BA1-6FE1-8887-9C3C-D64ACB83067E}"/>
              </a:ext>
            </a:extLst>
          </p:cNvPr>
          <p:cNvSpPr>
            <a:spLocks noGrp="1"/>
          </p:cNvSpPr>
          <p:nvPr/>
        </p:nvSpPr>
        <p:spPr>
          <a:xfrm>
            <a:off x="4398319" y="3573595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122.37 / 1.54</a:t>
            </a:r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13EB0211-16ED-3F4F-A502-B464B7317EF7}"/>
              </a:ext>
            </a:extLst>
          </p:cNvPr>
          <p:cNvSpPr>
            <a:spLocks noGrp="1"/>
          </p:cNvSpPr>
          <p:nvPr/>
        </p:nvSpPr>
        <p:spPr>
          <a:xfrm>
            <a:off x="600512" y="3911923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l">
              <a:buNone/>
            </a:pPr>
            <a:r>
              <a:rPr sz="880" b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0.30 相对 Delta P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32BA339E-EF14-98DD-5F4D-DCF75C8A579E}"/>
              </a:ext>
            </a:extLst>
          </p:cNvPr>
          <p:cNvSpPr>
            <a:spLocks noGrp="1"/>
          </p:cNvSpPr>
          <p:nvPr/>
        </p:nvSpPr>
        <p:spPr>
          <a:xfrm>
            <a:off x="2301296" y="3911923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-0.19 kW</a:t>
            </a:r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BBDCBC4F-384D-141A-1283-6AEAD0737178}"/>
              </a:ext>
            </a:extLst>
          </p:cNvPr>
          <p:cNvSpPr>
            <a:spLocks noGrp="1"/>
          </p:cNvSpPr>
          <p:nvPr/>
        </p:nvSpPr>
        <p:spPr>
          <a:xfrm>
            <a:off x="3349808" y="3911923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007E8A"/>
                </a:solidFill>
                <a:latin typeface="Microsoft YaHei"/>
                <a:ea typeface="Microsoft YaHei"/>
                <a:cs typeface="Microsoft YaHei"/>
              </a:rPr>
              <a:t>-0.67 kW</a:t>
            </a:r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EEE84AB3-F968-EE30-AC0F-4B31A4E9791B}"/>
              </a:ext>
            </a:extLst>
          </p:cNvPr>
          <p:cNvSpPr>
            <a:spLocks noGrp="1"/>
          </p:cNvSpPr>
          <p:nvPr/>
        </p:nvSpPr>
        <p:spPr>
          <a:xfrm>
            <a:off x="4398319" y="3911923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-1.37 kW</a:t>
            </a:r>
          </a:p>
        </p:txBody>
      </p:sp>
      <p:sp>
        <p:nvSpPr>
          <p:cNvPr id="30" name="TextBox 32">
            <a:extLst>
              <a:ext uri="{FF2B5EF4-FFF2-40B4-BE49-F238E27FC236}">
                <a16:creationId xmlns:a16="http://schemas.microsoft.com/office/drawing/2014/main" id="{92FB8ABA-E6D2-F23E-6BB9-91652B0425FE}"/>
              </a:ext>
            </a:extLst>
          </p:cNvPr>
          <p:cNvSpPr>
            <a:spLocks noGrp="1"/>
          </p:cNvSpPr>
          <p:nvPr/>
        </p:nvSpPr>
        <p:spPr>
          <a:xfrm>
            <a:off x="600512" y="4259395"/>
            <a:ext cx="4809744" cy="1828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83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cEGR</a:t>
            </a:r>
            <a:r>
              <a:rPr sz="830" b="0" dirty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 0.30 </a:t>
            </a:r>
            <a:r>
              <a:rPr sz="830" b="0" dirty="0" err="1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时，功率相对零回流降低</a:t>
            </a:r>
            <a:r>
              <a:rPr sz="830" b="0" dirty="0">
                <a:solidFill>
                  <a:srgbClr val="63717E"/>
                </a:solidFill>
                <a:latin typeface="Microsoft YaHei"/>
                <a:ea typeface="Microsoft YaHei"/>
                <a:cs typeface="Microsoft YaHei"/>
              </a:rPr>
              <a:t> 0.19 / 0.67 / 1.37 kW。</a:t>
            </a: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EB8DC6B6-0D10-674A-25E8-AEBC233275C9}"/>
              </a:ext>
            </a:extLst>
          </p:cNvPr>
          <p:cNvSpPr>
            <a:spLocks noGrp="1"/>
          </p:cNvSpPr>
          <p:nvPr/>
        </p:nvSpPr>
        <p:spPr>
          <a:xfrm>
            <a:off x="5840024" y="1963589"/>
            <a:ext cx="1828800" cy="1010412"/>
          </a:xfrm>
          <a:prstGeom prst="roundRect">
            <a:avLst/>
          </a:prstGeom>
          <a:solidFill>
            <a:srgbClr val="E6F5F6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id="{EFA94BD8-7B78-3DC3-DBE8-1B52B1E60CA9}"/>
              </a:ext>
            </a:extLst>
          </p:cNvPr>
          <p:cNvSpPr>
            <a:spLocks noGrp="1"/>
          </p:cNvSpPr>
          <p:nvPr/>
        </p:nvSpPr>
        <p:spPr>
          <a:xfrm>
            <a:off x="5840024" y="1996521"/>
            <a:ext cx="47023" cy="965684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D6472C5D-925E-3A8F-11A8-C9CC7C4777A2}"/>
              </a:ext>
            </a:extLst>
          </p:cNvPr>
          <p:cNvSpPr>
            <a:spLocks noGrp="1"/>
          </p:cNvSpPr>
          <p:nvPr/>
        </p:nvSpPr>
        <p:spPr>
          <a:xfrm>
            <a:off x="6004615" y="2064173"/>
            <a:ext cx="15727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007E8A"/>
                </a:solidFill>
                <a:latin typeface="Microsoft YaHei"/>
                <a:ea typeface="Microsoft YaHei"/>
                <a:cs typeface="Microsoft YaHei"/>
              </a:rPr>
              <a:t>供氧与阀尺度</a:t>
            </a:r>
          </a:p>
        </p:txBody>
      </p:sp>
      <p:sp>
        <p:nvSpPr>
          <p:cNvPr id="39" name="TextBox 41">
            <a:extLst>
              <a:ext uri="{FF2B5EF4-FFF2-40B4-BE49-F238E27FC236}">
                <a16:creationId xmlns:a16="http://schemas.microsoft.com/office/drawing/2014/main" id="{19266579-55AA-7D6D-173D-C6EE184F2E7F}"/>
              </a:ext>
            </a:extLst>
          </p:cNvPr>
          <p:cNvSpPr>
            <a:spLocks noGrp="1"/>
          </p:cNvSpPr>
          <p:nvPr/>
        </p:nvSpPr>
        <p:spPr>
          <a:xfrm>
            <a:off x="6004615" y="2347637"/>
            <a:ext cx="1572768" cy="3046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buNone/>
            </a:pPr>
            <a:r>
              <a:rPr sz="93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阀有效面积196 mm²，d_eq=15.8 mm。</a:t>
            </a:r>
          </a:p>
        </p:txBody>
      </p:sp>
      <p:sp>
        <p:nvSpPr>
          <p:cNvPr id="40" name="Rounded Rectangle 42">
            <a:extLst>
              <a:ext uri="{FF2B5EF4-FFF2-40B4-BE49-F238E27FC236}">
                <a16:creationId xmlns:a16="http://schemas.microsoft.com/office/drawing/2014/main" id="{4E73CD9B-96E0-D0F4-DA5C-C77156D7D4E9}"/>
              </a:ext>
            </a:extLst>
          </p:cNvPr>
          <p:cNvSpPr>
            <a:spLocks noGrp="1"/>
          </p:cNvSpPr>
          <p:nvPr/>
        </p:nvSpPr>
        <p:spPr>
          <a:xfrm>
            <a:off x="7832112" y="1955107"/>
            <a:ext cx="3896648" cy="1018894"/>
          </a:xfrm>
          <a:prstGeom prst="roundRect">
            <a:avLst/>
          </a:prstGeom>
          <a:solidFill>
            <a:srgbClr val="E8F5EF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20D5907F-CF07-1C3D-2325-CFD2046F6994}"/>
              </a:ext>
            </a:extLst>
          </p:cNvPr>
          <p:cNvSpPr>
            <a:spLocks noGrp="1"/>
          </p:cNvSpPr>
          <p:nvPr/>
        </p:nvSpPr>
        <p:spPr>
          <a:xfrm>
            <a:off x="7832112" y="1987441"/>
            <a:ext cx="47024" cy="941832"/>
          </a:xfrm>
          <a:prstGeom prst="rect">
            <a:avLst/>
          </a:prstGeom>
          <a:solidFill>
            <a:srgbClr val="1E7B53"/>
          </a:solidFill>
          <a:ln>
            <a:solidFill>
              <a:srgbClr val="1E7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4">
            <a:extLst>
              <a:ext uri="{FF2B5EF4-FFF2-40B4-BE49-F238E27FC236}">
                <a16:creationId xmlns:a16="http://schemas.microsoft.com/office/drawing/2014/main" id="{894E11D7-62A1-37F0-657B-6267AB29F59F}"/>
              </a:ext>
            </a:extLst>
          </p:cNvPr>
          <p:cNvSpPr>
            <a:spLocks noGrp="1"/>
          </p:cNvSpPr>
          <p:nvPr/>
        </p:nvSpPr>
        <p:spPr>
          <a:xfrm>
            <a:off x="7996704" y="2067521"/>
            <a:ext cx="1572768" cy="232371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lang="zh-CN" altLang="en-US" sz="1150" b="1" dirty="0">
                <a:solidFill>
                  <a:srgbClr val="1E7B53"/>
                </a:solidFill>
                <a:latin typeface="Microsoft YaHei"/>
                <a:ea typeface="Microsoft YaHei"/>
                <a:cs typeface="Microsoft YaHei"/>
              </a:rPr>
              <a:t>控制策略</a:t>
            </a:r>
            <a:endParaRPr sz="1150" b="1" dirty="0">
              <a:solidFill>
                <a:srgbClr val="1E7B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TextBox 45">
            <a:extLst>
              <a:ext uri="{FF2B5EF4-FFF2-40B4-BE49-F238E27FC236}">
                <a16:creationId xmlns:a16="http://schemas.microsoft.com/office/drawing/2014/main" id="{ED646A3E-D963-22FB-2D46-A7849ED9B28C}"/>
              </a:ext>
            </a:extLst>
          </p:cNvPr>
          <p:cNvSpPr>
            <a:spLocks noGrp="1"/>
          </p:cNvSpPr>
          <p:nvPr/>
        </p:nvSpPr>
        <p:spPr>
          <a:xfrm>
            <a:off x="7996704" y="2339155"/>
            <a:ext cx="3730858" cy="43858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buNone/>
            </a:pPr>
            <a:r>
              <a:rPr lang="zh-CN" altLang="en-US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控制对象：恒电流 </a:t>
            </a:r>
            <a:r>
              <a:rPr lang="en-US" altLang="zh-CN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56 / 196 / 336 A</a:t>
            </a:r>
            <a:r>
              <a:rPr lang="zh-CN" altLang="en-US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；总压缩机流量由等效 </a:t>
            </a:r>
            <a:r>
              <a:rPr lang="en-US" altLang="zh-CN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OER 4 / 3 / 2 </a:t>
            </a:r>
            <a:r>
              <a:rPr lang="zh-CN" altLang="en-US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给定；</a:t>
            </a:r>
            <a:r>
              <a:rPr lang="en-US" altLang="zh-CN" sz="91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cEGR</a:t>
            </a:r>
            <a:r>
              <a:rPr lang="en-US" altLang="zh-CN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目标 </a:t>
            </a:r>
            <a:r>
              <a:rPr lang="en-US" altLang="zh-CN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0 / 0.10 / 0.30</a:t>
            </a:r>
            <a:r>
              <a:rPr lang="zh-CN" altLang="en-US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zh-CN" sz="910" b="0" dirty="0">
              <a:solidFill>
                <a:srgbClr val="25334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lang="zh-CN" altLang="en-US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控制结果：最大跟踪误差 </a:t>
            </a:r>
            <a:r>
              <a:rPr lang="en-US" altLang="zh-CN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7.32e-8 kg/s</a:t>
            </a:r>
            <a:r>
              <a:rPr lang="zh-CN" altLang="en-US" sz="91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sz="910" b="0" dirty="0">
              <a:solidFill>
                <a:srgbClr val="25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Rounded Rectangle 46">
            <a:extLst>
              <a:ext uri="{FF2B5EF4-FFF2-40B4-BE49-F238E27FC236}">
                <a16:creationId xmlns:a16="http://schemas.microsoft.com/office/drawing/2014/main" id="{2C6D487C-60A9-739B-10A0-BB0FFDF0A2AA}"/>
              </a:ext>
            </a:extLst>
          </p:cNvPr>
          <p:cNvSpPr>
            <a:spLocks noGrp="1"/>
          </p:cNvSpPr>
          <p:nvPr/>
        </p:nvSpPr>
        <p:spPr>
          <a:xfrm>
            <a:off x="5840024" y="3120305"/>
            <a:ext cx="5888736" cy="1216152"/>
          </a:xfrm>
          <a:prstGeom prst="roundRect">
            <a:avLst/>
          </a:prstGeom>
          <a:solidFill>
            <a:srgbClr val="F6F9FC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F06F1BCC-E06F-A761-8CBE-2E2ABC901D87}"/>
              </a:ext>
            </a:extLst>
          </p:cNvPr>
          <p:cNvSpPr>
            <a:spLocks noGrp="1"/>
          </p:cNvSpPr>
          <p:nvPr/>
        </p:nvSpPr>
        <p:spPr>
          <a:xfrm>
            <a:off x="5840024" y="3120305"/>
            <a:ext cx="73152" cy="1216152"/>
          </a:xfrm>
          <a:prstGeom prst="rect">
            <a:avLst/>
          </a:prstGeom>
          <a:solidFill>
            <a:srgbClr val="003B90"/>
          </a:solidFill>
          <a:ln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8">
            <a:extLst>
              <a:ext uri="{FF2B5EF4-FFF2-40B4-BE49-F238E27FC236}">
                <a16:creationId xmlns:a16="http://schemas.microsoft.com/office/drawing/2014/main" id="{41F2496F-93B5-A72D-6996-30A87842DB80}"/>
              </a:ext>
            </a:extLst>
          </p:cNvPr>
          <p:cNvSpPr>
            <a:spLocks noGrp="1"/>
          </p:cNvSpPr>
          <p:nvPr/>
        </p:nvSpPr>
        <p:spPr>
          <a:xfrm>
            <a:off x="6004616" y="3220889"/>
            <a:ext cx="5632704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003B90"/>
                </a:solidFill>
                <a:latin typeface="Microsoft YaHei"/>
                <a:ea typeface="Microsoft YaHei"/>
                <a:cs typeface="Microsoft YaHei"/>
              </a:rPr>
              <a:t>模型可支持的系统级研发问题</a:t>
            </a:r>
          </a:p>
        </p:txBody>
      </p:sp>
      <p:sp>
        <p:nvSpPr>
          <p:cNvPr id="47" name="TextBox 49">
            <a:extLst>
              <a:ext uri="{FF2B5EF4-FFF2-40B4-BE49-F238E27FC236}">
                <a16:creationId xmlns:a16="http://schemas.microsoft.com/office/drawing/2014/main" id="{26A83A89-15FD-B34A-AFAF-692BA5747612}"/>
              </a:ext>
            </a:extLst>
          </p:cNvPr>
          <p:cNvSpPr>
            <a:spLocks noGrp="1"/>
          </p:cNvSpPr>
          <p:nvPr/>
        </p:nvSpPr>
        <p:spPr>
          <a:xfrm>
            <a:off x="6004616" y="3504353"/>
            <a:ext cx="5632704" cy="7589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buNone/>
            </a:pPr>
            <a:r>
              <a:rPr sz="1070" b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负载变化下的供氧与回流匹配。
回流稀释对电压、功率与氧计量的量化。
空气、背压、cEGR 与热/水管理控制的联动开发。</a:t>
            </a:r>
          </a:p>
        </p:txBody>
      </p:sp>
      <p:sp>
        <p:nvSpPr>
          <p:cNvPr id="48" name="Rounded Rectangle 50">
            <a:extLst>
              <a:ext uri="{FF2B5EF4-FFF2-40B4-BE49-F238E27FC236}">
                <a16:creationId xmlns:a16="http://schemas.microsoft.com/office/drawing/2014/main" id="{F5085C49-1AC9-5899-46BD-965C97038247}"/>
              </a:ext>
            </a:extLst>
          </p:cNvPr>
          <p:cNvSpPr>
            <a:spLocks noGrp="1"/>
          </p:cNvSpPr>
          <p:nvPr/>
        </p:nvSpPr>
        <p:spPr>
          <a:xfrm>
            <a:off x="417632" y="4719843"/>
            <a:ext cx="11311128" cy="1417320"/>
          </a:xfrm>
          <a:prstGeom prst="roundRect">
            <a:avLst/>
          </a:prstGeom>
          <a:solidFill>
            <a:srgbClr val="FFF8EA"/>
          </a:solidFill>
          <a:ln w="10160">
            <a:solidFill>
              <a:srgbClr val="E6C8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51">
            <a:extLst>
              <a:ext uri="{FF2B5EF4-FFF2-40B4-BE49-F238E27FC236}">
                <a16:creationId xmlns:a16="http://schemas.microsoft.com/office/drawing/2014/main" id="{71F9819D-860D-F95D-0C2D-0CB75957F9FB}"/>
              </a:ext>
            </a:extLst>
          </p:cNvPr>
          <p:cNvSpPr>
            <a:spLocks noGrp="1"/>
          </p:cNvSpPr>
          <p:nvPr/>
        </p:nvSpPr>
        <p:spPr>
          <a:xfrm>
            <a:off x="646232" y="4847859"/>
            <a:ext cx="3246120" cy="2453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250" b="1" dirty="0" err="1">
                <a:solidFill>
                  <a:srgbClr val="D99000"/>
                </a:solidFill>
                <a:latin typeface="Microsoft YaHei"/>
                <a:ea typeface="Microsoft YaHei"/>
                <a:cs typeface="Microsoft YaHei"/>
              </a:rPr>
              <a:t>进入项目研发，下一轮需补齐</a:t>
            </a:r>
            <a:endParaRPr sz="1250" b="1" dirty="0">
              <a:solidFill>
                <a:srgbClr val="D99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Rounded Rectangle 52">
            <a:extLst>
              <a:ext uri="{FF2B5EF4-FFF2-40B4-BE49-F238E27FC236}">
                <a16:creationId xmlns:a16="http://schemas.microsoft.com/office/drawing/2014/main" id="{A2691E00-3F5B-E445-01C3-B36D6E7661EC}"/>
              </a:ext>
            </a:extLst>
          </p:cNvPr>
          <p:cNvSpPr>
            <a:spLocks noGrp="1"/>
          </p:cNvSpPr>
          <p:nvPr/>
        </p:nvSpPr>
        <p:spPr>
          <a:xfrm>
            <a:off x="664520" y="5177043"/>
            <a:ext cx="3429000" cy="713232"/>
          </a:xfrm>
          <a:prstGeom prst="roundRect">
            <a:avLst/>
          </a:prstGeom>
          <a:solidFill>
            <a:srgbClr val="FFFDF7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ectangle 53">
            <a:extLst>
              <a:ext uri="{FF2B5EF4-FFF2-40B4-BE49-F238E27FC236}">
                <a16:creationId xmlns:a16="http://schemas.microsoft.com/office/drawing/2014/main" id="{4C77A3D6-8330-6A68-1EEC-D834C792D5C5}"/>
              </a:ext>
            </a:extLst>
          </p:cNvPr>
          <p:cNvSpPr>
            <a:spLocks noGrp="1"/>
          </p:cNvSpPr>
          <p:nvPr/>
        </p:nvSpPr>
        <p:spPr>
          <a:xfrm>
            <a:off x="664520" y="5177043"/>
            <a:ext cx="73152" cy="713232"/>
          </a:xfrm>
          <a:prstGeom prst="rect">
            <a:avLst/>
          </a:prstGeom>
          <a:solidFill>
            <a:srgbClr val="D99000"/>
          </a:solidFill>
          <a:ln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4">
            <a:extLst>
              <a:ext uri="{FF2B5EF4-FFF2-40B4-BE49-F238E27FC236}">
                <a16:creationId xmlns:a16="http://schemas.microsoft.com/office/drawing/2014/main" id="{A6AE7C7B-E2C7-0F08-7D98-7F2B41D35E1D}"/>
              </a:ext>
            </a:extLst>
          </p:cNvPr>
          <p:cNvSpPr>
            <a:spLocks noGrp="1"/>
          </p:cNvSpPr>
          <p:nvPr/>
        </p:nvSpPr>
        <p:spPr>
          <a:xfrm>
            <a:off x="829111" y="5277627"/>
            <a:ext cx="31729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D99000"/>
                </a:solidFill>
                <a:latin typeface="Microsoft YaHei"/>
                <a:ea typeface="Microsoft YaHei"/>
                <a:cs typeface="Microsoft YaHei"/>
              </a:rPr>
              <a:t>1  锁定项目工况边界</a:t>
            </a:r>
          </a:p>
        </p:txBody>
      </p:sp>
      <p:sp>
        <p:nvSpPr>
          <p:cNvPr id="53" name="TextBox 55">
            <a:extLst>
              <a:ext uri="{FF2B5EF4-FFF2-40B4-BE49-F238E27FC236}">
                <a16:creationId xmlns:a16="http://schemas.microsoft.com/office/drawing/2014/main" id="{F4EE45CB-FFEB-9AB1-815F-E4453A66985F}"/>
              </a:ext>
            </a:extLst>
          </p:cNvPr>
          <p:cNvSpPr>
            <a:spLocks noGrp="1"/>
          </p:cNvSpPr>
          <p:nvPr/>
        </p:nvSpPr>
        <p:spPr>
          <a:xfrm>
            <a:off x="829111" y="5561091"/>
            <a:ext cx="3172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buNone/>
            </a:pPr>
            <a:r>
              <a:rPr sz="960" b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目标功率、负载谱、环境边界与 cEGR 策略。</a:t>
            </a:r>
          </a:p>
        </p:txBody>
      </p:sp>
      <p:sp>
        <p:nvSpPr>
          <p:cNvPr id="54" name="Rounded Rectangle 56">
            <a:extLst>
              <a:ext uri="{FF2B5EF4-FFF2-40B4-BE49-F238E27FC236}">
                <a16:creationId xmlns:a16="http://schemas.microsoft.com/office/drawing/2014/main" id="{7997086E-C950-F2DE-B74D-E5CA16D3D6D7}"/>
              </a:ext>
            </a:extLst>
          </p:cNvPr>
          <p:cNvSpPr>
            <a:spLocks noGrp="1"/>
          </p:cNvSpPr>
          <p:nvPr/>
        </p:nvSpPr>
        <p:spPr>
          <a:xfrm>
            <a:off x="4367840" y="5177043"/>
            <a:ext cx="3429000" cy="713232"/>
          </a:xfrm>
          <a:prstGeom prst="roundRect">
            <a:avLst/>
          </a:prstGeom>
          <a:solidFill>
            <a:srgbClr val="FFFDF7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Rectangle 57">
            <a:extLst>
              <a:ext uri="{FF2B5EF4-FFF2-40B4-BE49-F238E27FC236}">
                <a16:creationId xmlns:a16="http://schemas.microsoft.com/office/drawing/2014/main" id="{39DDC6D1-50D1-1E9E-9F6B-F7F326A9E982}"/>
              </a:ext>
            </a:extLst>
          </p:cNvPr>
          <p:cNvSpPr>
            <a:spLocks noGrp="1"/>
          </p:cNvSpPr>
          <p:nvPr/>
        </p:nvSpPr>
        <p:spPr>
          <a:xfrm>
            <a:off x="4367840" y="5177043"/>
            <a:ext cx="73152" cy="713232"/>
          </a:xfrm>
          <a:prstGeom prst="rect">
            <a:avLst/>
          </a:prstGeom>
          <a:solidFill>
            <a:srgbClr val="D99000"/>
          </a:solidFill>
          <a:ln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8">
            <a:extLst>
              <a:ext uri="{FF2B5EF4-FFF2-40B4-BE49-F238E27FC236}">
                <a16:creationId xmlns:a16="http://schemas.microsoft.com/office/drawing/2014/main" id="{7B459CAF-D228-3272-2708-53E4FC77ADB9}"/>
              </a:ext>
            </a:extLst>
          </p:cNvPr>
          <p:cNvSpPr>
            <a:spLocks noGrp="1"/>
          </p:cNvSpPr>
          <p:nvPr/>
        </p:nvSpPr>
        <p:spPr>
          <a:xfrm>
            <a:off x="4532431" y="5277627"/>
            <a:ext cx="31729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D99000"/>
                </a:solidFill>
                <a:latin typeface="Microsoft YaHei"/>
                <a:ea typeface="Microsoft YaHei"/>
                <a:cs typeface="Microsoft YaHei"/>
              </a:rPr>
              <a:t>2  参数匹配与部件数据</a:t>
            </a:r>
          </a:p>
        </p:txBody>
      </p:sp>
      <p:sp>
        <p:nvSpPr>
          <p:cNvPr id="57" name="TextBox 59">
            <a:extLst>
              <a:ext uri="{FF2B5EF4-FFF2-40B4-BE49-F238E27FC236}">
                <a16:creationId xmlns:a16="http://schemas.microsoft.com/office/drawing/2014/main" id="{8F8206CE-3D86-18B7-829B-3C53B6BC3986}"/>
              </a:ext>
            </a:extLst>
          </p:cNvPr>
          <p:cNvSpPr>
            <a:spLocks noGrp="1"/>
          </p:cNvSpPr>
          <p:nvPr/>
        </p:nvSpPr>
        <p:spPr>
          <a:xfrm>
            <a:off x="4532431" y="5561091"/>
            <a:ext cx="3172968" cy="16158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buNone/>
            </a:pPr>
            <a:r>
              <a:rPr sz="93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压缩机</a:t>
            </a:r>
            <a:r>
              <a:rPr lang="en-US" altLang="zh-CN" sz="93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map</a:t>
            </a:r>
            <a:r>
              <a:rPr sz="93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、阀</a:t>
            </a:r>
            <a:r>
              <a:rPr sz="93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3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管路压降、热管理边界</a:t>
            </a:r>
            <a:r>
              <a:rPr sz="93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8" name="Rounded Rectangle 60">
            <a:extLst>
              <a:ext uri="{FF2B5EF4-FFF2-40B4-BE49-F238E27FC236}">
                <a16:creationId xmlns:a16="http://schemas.microsoft.com/office/drawing/2014/main" id="{2C992D06-4168-8982-4BDF-7A89B3D3321D}"/>
              </a:ext>
            </a:extLst>
          </p:cNvPr>
          <p:cNvSpPr>
            <a:spLocks noGrp="1"/>
          </p:cNvSpPr>
          <p:nvPr/>
        </p:nvSpPr>
        <p:spPr>
          <a:xfrm>
            <a:off x="8071160" y="5177043"/>
            <a:ext cx="3429000" cy="713232"/>
          </a:xfrm>
          <a:prstGeom prst="roundRect">
            <a:avLst/>
          </a:prstGeom>
          <a:solidFill>
            <a:srgbClr val="FFFDF7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Rectangle 61">
            <a:extLst>
              <a:ext uri="{FF2B5EF4-FFF2-40B4-BE49-F238E27FC236}">
                <a16:creationId xmlns:a16="http://schemas.microsoft.com/office/drawing/2014/main" id="{B6E242CD-4524-9B21-C6EA-3BB02E83D917}"/>
              </a:ext>
            </a:extLst>
          </p:cNvPr>
          <p:cNvSpPr>
            <a:spLocks noGrp="1"/>
          </p:cNvSpPr>
          <p:nvPr/>
        </p:nvSpPr>
        <p:spPr>
          <a:xfrm>
            <a:off x="8071160" y="5177043"/>
            <a:ext cx="73152" cy="713232"/>
          </a:xfrm>
          <a:prstGeom prst="rect">
            <a:avLst/>
          </a:prstGeom>
          <a:solidFill>
            <a:srgbClr val="D99000"/>
          </a:solidFill>
          <a:ln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TextBox 62">
            <a:extLst>
              <a:ext uri="{FF2B5EF4-FFF2-40B4-BE49-F238E27FC236}">
                <a16:creationId xmlns:a16="http://schemas.microsoft.com/office/drawing/2014/main" id="{2D95B74E-B935-D07C-5241-5D38542ED6FE}"/>
              </a:ext>
            </a:extLst>
          </p:cNvPr>
          <p:cNvSpPr>
            <a:spLocks noGrp="1"/>
          </p:cNvSpPr>
          <p:nvPr/>
        </p:nvSpPr>
        <p:spPr>
          <a:xfrm>
            <a:off x="8235752" y="5277627"/>
            <a:ext cx="31729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D99000"/>
                </a:solidFill>
                <a:latin typeface="Microsoft YaHei"/>
                <a:ea typeface="Microsoft YaHei"/>
                <a:cs typeface="Microsoft YaHei"/>
              </a:rPr>
              <a:t>3  联合验证闭环</a:t>
            </a:r>
          </a:p>
        </p:txBody>
      </p:sp>
      <p:sp>
        <p:nvSpPr>
          <p:cNvPr id="61" name="TextBox 63">
            <a:extLst>
              <a:ext uri="{FF2B5EF4-FFF2-40B4-BE49-F238E27FC236}">
                <a16:creationId xmlns:a16="http://schemas.microsoft.com/office/drawing/2014/main" id="{36BA1DB8-9A27-5892-DDEF-F6103521B9E2}"/>
              </a:ext>
            </a:extLst>
          </p:cNvPr>
          <p:cNvSpPr>
            <a:spLocks noGrp="1"/>
          </p:cNvSpPr>
          <p:nvPr/>
        </p:nvSpPr>
        <p:spPr>
          <a:xfrm>
            <a:off x="8235752" y="5561091"/>
            <a:ext cx="3172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buNone/>
            </a:pPr>
            <a:r>
              <a:rPr sz="96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堆 </a:t>
            </a:r>
            <a:r>
              <a:rPr sz="96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V-I、流量</a:t>
            </a:r>
            <a:r>
              <a:rPr sz="96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6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压力</a:t>
            </a:r>
            <a:r>
              <a:rPr sz="96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960" b="0" dirty="0" err="1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组分、温湿度与冷凝水</a:t>
            </a:r>
            <a:r>
              <a:rPr sz="960" b="0" dirty="0">
                <a:solidFill>
                  <a:srgbClr val="25334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8251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3038CB3-51A3-AB5A-E890-43754091CADA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zh-CN" altLang="en-US" dirty="0"/>
              <a:t>模型现状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824ACE-2BF6-19C7-67C1-563E875DC6EA}"/>
              </a:ext>
            </a:extLst>
          </p:cNvPr>
          <p:cNvSpPr txBox="1"/>
          <p:nvPr/>
        </p:nvSpPr>
        <p:spPr>
          <a:xfrm>
            <a:off x="407368" y="1052736"/>
            <a:ext cx="6151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当前模型已包含完整的电堆、气路、水热和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BOP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控制骨架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0F8E415-2E7C-926D-A9A4-A74BB02F3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365447"/>
              </p:ext>
            </p:extLst>
          </p:nvPr>
        </p:nvGraphicFramePr>
        <p:xfrm>
          <a:off x="499427" y="1484770"/>
          <a:ext cx="11089233" cy="430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1085480370"/>
                    </a:ext>
                  </a:extLst>
                </a:gridCol>
                <a:gridCol w="4444445">
                  <a:extLst>
                    <a:ext uri="{9D8B030D-6E8A-4147-A177-3AD203B41FA5}">
                      <a16:colId xmlns:a16="http://schemas.microsoft.com/office/drawing/2014/main" val="3126587245"/>
                    </a:ext>
                  </a:extLst>
                </a:gridCol>
                <a:gridCol w="4412540">
                  <a:extLst>
                    <a:ext uri="{9D8B030D-6E8A-4147-A177-3AD203B41FA5}">
                      <a16:colId xmlns:a16="http://schemas.microsoft.com/office/drawing/2014/main" val="653456959"/>
                    </a:ext>
                  </a:extLst>
                </a:gridCol>
              </a:tblGrid>
              <a:tr h="318457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系统部分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当前设备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控制状态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275161141"/>
                  </a:ext>
                </a:extLst>
              </a:tr>
              <a:tr h="67381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电堆与负载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MEA</a:t>
                      </a:r>
                      <a:r>
                        <a:rPr lang="zh-CN" altLang="en-US" sz="1400"/>
                        <a:t>、阳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阴极流道、阴极出口容积、热容、受控电流源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恒电流命令已用于 </a:t>
                      </a:r>
                      <a:r>
                        <a:rPr lang="en-US" altLang="zh-CN" sz="1400" dirty="0"/>
                        <a:t>Stage 1</a:t>
                      </a:r>
                      <a:r>
                        <a:rPr lang="zh-CN" altLang="en-US" sz="1400" dirty="0"/>
                        <a:t>；它是运行工况输入，不是功率控制器。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063466672"/>
                  </a:ext>
                </a:extLst>
              </a:tr>
              <a:tr h="1078448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阴极供气</a:t>
                      </a:r>
                      <a:r>
                        <a:rPr lang="en-US" altLang="zh-CN" sz="1400" dirty="0"/>
                        <a:t>/</a:t>
                      </a:r>
                      <a:r>
                        <a:rPr lang="en-US" sz="1400" dirty="0" err="1"/>
                        <a:t>cEGR</a:t>
                      </a:r>
                      <a:endParaRPr lang="en-US" sz="14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环境进气、压缩机流量源、压缩机容积与转速查表、混合器、中冷 </a:t>
                      </a:r>
                      <a:r>
                        <a:rPr lang="en-US" altLang="zh-CN" sz="1400"/>
                        <a:t>L2 </a:t>
                      </a:r>
                      <a:r>
                        <a:rPr lang="zh-CN" altLang="en-US" sz="1400"/>
                        <a:t>接口、阴极加湿器、</a:t>
                      </a:r>
                      <a:r>
                        <a:rPr lang="en-US" altLang="zh-CN" sz="1400"/>
                        <a:t>cEGR </a:t>
                      </a:r>
                      <a:r>
                        <a:rPr lang="zh-CN" altLang="en-US" sz="1400"/>
                        <a:t>管路与变面积阀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压缩机总流量 </a:t>
                      </a:r>
                      <a:r>
                        <a:rPr lang="en-US" altLang="zh-CN" sz="1400" dirty="0"/>
                        <a:t>PI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 err="1"/>
                        <a:t>cEGR</a:t>
                      </a:r>
                      <a:r>
                        <a:rPr lang="en-US" altLang="zh-CN" sz="1400" dirty="0"/>
                        <a:t> </a:t>
                      </a:r>
                      <a:r>
                        <a:rPr lang="zh-CN" altLang="en-US" sz="1400" dirty="0"/>
                        <a:t>比例 </a:t>
                      </a:r>
                      <a:r>
                        <a:rPr lang="en-US" altLang="zh-CN" sz="1400" dirty="0"/>
                        <a:t>PI </a:t>
                      </a:r>
                      <a:r>
                        <a:rPr lang="zh-CN" altLang="en-US" sz="1400" dirty="0"/>
                        <a:t>都已闭环。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825408355"/>
                  </a:ext>
                </a:extLst>
              </a:tr>
              <a:tr h="876131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阴极排气与水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排气管、背压泄压阀、</a:t>
                      </a:r>
                      <a:r>
                        <a:rPr lang="en-US" altLang="zh-CN" sz="1400"/>
                        <a:t>EGR/</a:t>
                      </a:r>
                      <a:r>
                        <a:rPr lang="zh-CN" altLang="en-US" sz="1400"/>
                        <a:t>排气流量计、压力温度湿度组分传感器、冷凝气相移除计算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背压目前是给定压力边界，不是反馈闭环；水侧可审计，但没有液水排放控制。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356852819"/>
                  </a:ext>
                </a:extLst>
              </a:tr>
              <a:tr h="557814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热管理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冷却液箱、泵、散热器、冷却通道、环境换热、热容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冷却泵由堆温 </a:t>
                      </a:r>
                      <a:r>
                        <a:rPr lang="en-US" altLang="zh-CN" sz="1400" dirty="0"/>
                        <a:t>PI </a:t>
                      </a:r>
                      <a:r>
                        <a:rPr lang="zh-CN" altLang="en-US" sz="1400" dirty="0"/>
                        <a:t>控制，目标为 </a:t>
                      </a:r>
                      <a:r>
                        <a:rPr lang="en-US" altLang="zh-CN" sz="1400" dirty="0"/>
                        <a:t>80 C</a:t>
                      </a:r>
                      <a:r>
                        <a:rPr lang="zh-CN" altLang="en-US" sz="1400" dirty="0"/>
                        <a:t>。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701294822"/>
                  </a:ext>
                </a:extLst>
              </a:tr>
              <a:tr h="79717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阳极 </a:t>
                      </a:r>
                      <a:r>
                        <a:rPr lang="en-US" sz="1400" dirty="0"/>
                        <a:t>BOP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储氢罐、减压阀、阳极加湿器、回流支路、吹扫阀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加湿器 </a:t>
                      </a:r>
                      <a:r>
                        <a:rPr lang="en-US" altLang="zh-CN" sz="1400" dirty="0"/>
                        <a:t>RH </a:t>
                      </a:r>
                      <a:r>
                        <a:rPr lang="zh-CN" altLang="en-US" sz="1400" dirty="0"/>
                        <a:t>比例控制；回流为随电流的前馈；吹扫阀由阳极 </a:t>
                      </a:r>
                      <a:r>
                        <a:rPr lang="en-US" altLang="zh-CN" sz="1400" dirty="0"/>
                        <a:t>N2 </a:t>
                      </a:r>
                      <a:r>
                        <a:rPr lang="zh-CN" altLang="en-US" sz="1400" dirty="0"/>
                        <a:t>信号继电逻辑驱动。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19545959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D17E8C3F-AE25-41A5-FE85-B5BF58231270}"/>
              </a:ext>
            </a:extLst>
          </p:cNvPr>
          <p:cNvSpPr txBox="1"/>
          <p:nvPr/>
        </p:nvSpPr>
        <p:spPr>
          <a:xfrm>
            <a:off x="623392" y="5981440"/>
            <a:ext cx="10873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已验证恒流、总供气流量和 </a:t>
            </a:r>
            <a:r>
              <a:rPr lang="en-US" altLang="zh-CN" sz="1400" dirty="0" err="1"/>
              <a:t>cEGR</a:t>
            </a:r>
            <a:r>
              <a:rPr lang="en-US" altLang="zh-CN" sz="1400" dirty="0"/>
              <a:t> </a:t>
            </a:r>
            <a:r>
              <a:rPr lang="zh-CN" altLang="en-US" sz="1400" dirty="0"/>
              <a:t>阀的闭环控制；加湿、冷却、阳极回流与吹扫控制已嵌入同一物理网络，下一阶段将把背压、热管理及阳极侧策略纳入协同匹配与标定。</a:t>
            </a:r>
          </a:p>
        </p:txBody>
      </p:sp>
    </p:spTree>
    <p:extLst>
      <p:ext uri="{BB962C8B-B14F-4D97-AF65-F5344CB8AC3E}">
        <p14:creationId xmlns:p14="http://schemas.microsoft.com/office/powerpoint/2010/main" val="2034726174"/>
      </p:ext>
    </p:extLst>
  </p:cSld>
  <p:clrMapOvr>
    <a:masterClrMapping/>
  </p:clrMapOvr>
</p:sld>
</file>

<file path=ppt/theme/theme1.xml><?xml version="1.0" encoding="utf-8"?>
<a:theme xmlns:a="http://schemas.openxmlformats.org/drawingml/2006/main" name="3_默认设计模板">
  <a:themeElements>
    <a:clrScheme name="自定义 1">
      <a:dk1>
        <a:srgbClr val="1E4E79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023一汽解放PPT模板（轻量化鹰标-敏感信息）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VI标准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解放PPT配色方案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3B90"/>
      </a:accent1>
      <a:accent2>
        <a:srgbClr val="A7A9AC"/>
      </a:accent2>
      <a:accent3>
        <a:srgbClr val="C0000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解放PPT配色方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741</Words>
  <Application>Microsoft Office PowerPoint</Application>
  <DocSecurity>0</DocSecurity>
  <PresentationFormat>宽屏</PresentationFormat>
  <Paragraphs>84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微软雅黑</vt:lpstr>
      <vt:lpstr>微软雅黑</vt:lpstr>
      <vt:lpstr>Arial</vt:lpstr>
      <vt:lpstr>Calibri</vt:lpstr>
      <vt:lpstr>Wingdings</vt:lpstr>
      <vt:lpstr>3_默认设计模板</vt:lpstr>
      <vt:lpstr>2023一汽解放PPT模板（轻量化鹰标-敏感信息）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俊樑 吴</cp:lastModifiedBy>
  <cp:revision>9</cp:revision>
  <dcterms:created xsi:type="dcterms:W3CDTF">2026-07-20T04:54:32Z</dcterms:created>
  <dcterms:modified xsi:type="dcterms:W3CDTF">2026-07-20T05:28:43Z</dcterms:modified>
</cp:coreProperties>
</file>