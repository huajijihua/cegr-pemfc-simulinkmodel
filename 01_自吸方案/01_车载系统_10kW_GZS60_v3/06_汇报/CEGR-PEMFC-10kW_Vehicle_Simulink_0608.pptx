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77" r:id="rId2"/>
    <p:sldId id="378" r:id="rId3"/>
    <p:sldId id="381" r:id="rId4"/>
    <p:sldId id="382" r:id="rId5"/>
    <p:sldId id="383" r:id="rId6"/>
    <p:sldId id="385" r:id="rId7"/>
    <p:sldId id="387" r:id="rId8"/>
    <p:sldId id="386" r:id="rId9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365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00B050"/>
    <a:srgbClr val="F1F1F1"/>
    <a:srgbClr val="F2F2F2"/>
    <a:srgbClr val="FF374A"/>
    <a:srgbClr val="4964E4"/>
    <a:srgbClr val="84EB7A"/>
    <a:srgbClr val="B10011"/>
    <a:srgbClr val="F5B482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01" autoAdjust="0"/>
    <p:restoredTop sz="86388" autoAdjust="0"/>
  </p:normalViewPr>
  <p:slideViewPr>
    <p:cSldViewPr snapToObjects="1">
      <p:cViewPr varScale="1">
        <p:scale>
          <a:sx n="105" d="100"/>
          <a:sy n="105" d="100"/>
        </p:scale>
        <p:origin x="1253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  <a:t>2026/6/7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基准覆盖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13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个台架稳态点，压力顺序通过。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单电池电压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RMSE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约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8.5 mV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，温度范围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61.9-80.3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degC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，入堆氧分压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27.7-47.7 kPa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当前模型适合做电压、氧分压、温度的半定量判断。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由于采用加湿器，湿度误差仍偏大，湿度结论只作为趋势参考，不作为强定量结论。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趋势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固定电流和固定供气时，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增大会降低入堆氧分压和实际氧计量比。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0.1/0.2/0.3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电压下降约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0.6/1.1/1.4 mV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继续升高，高电流点会接近缺氧边界。</a:t>
            </a:r>
          </a:p>
          <a:p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判断：电压降低需求低计量比。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16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B7D5-375B-E75D-298D-9413F212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42379-28E4-9F05-38BD-702FBE1F0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70894B-8605-6A73-DB16-CF1ED9D9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固定目标单电池电压时，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越高，系统可输出电流越低。</a:t>
            </a: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0.800/0.775/0.750 V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下电流下降约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1.9%/2.4%/2.4%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EGR=0.7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时，电流下降扩大到约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12%-16%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对实验的含义：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</a:rPr>
              <a:t>cEGR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不能只看电压，还要同步记录电流、氢耗、氧计量比和入口氧分压。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EBB82-79CF-9444-B1FB-11EB36201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673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396D-67D6-BE70-1369-1BB19B8B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E96F02-9099-E663-93E1-2AA91E59F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B2326C-A37D-1C19-2FAF-E06A1CB78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若强行维持入堆氧分压，需要提高新鲜空气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空压机入口流量。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0.1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流量约增加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76%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0.2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接近翻倍。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- 0.3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已触发压力链失效，不作为有效工况。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技术判断：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cEGR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适合重点评估低负荷自增湿、冷启动和高电位限制；高负荷或高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需要严格限制，下一步应补空压机功耗和台架闭环验证后再评估净效率。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817BAF-0451-E19D-66E9-1E70AD712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10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636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C5DB-5F8E-064E-C5EB-B532970F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3D3AD2-A3AA-CF79-6568-B3E9756C4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AEC828-61E2-3D5A-9CF8-124437178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B1CDF8-3133-E8B3-52E7-E16202226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605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B669-481B-7735-DF0A-69725ECB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A8D9F5-77D1-9293-D864-423797173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A1DAE9-D2EE-5317-25C7-931331921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A383F-A09B-5A2B-A67D-BCBE830AF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22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17B5-5443-027E-9362-05942E5C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737AF-3461-216F-EAB6-7D6878E81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EA3490-E1A1-F24D-3EBD-A1A9A40C8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b="1" i="0" dirty="0">
                <a:solidFill>
                  <a:srgbClr val="1A1C1F"/>
                </a:solidFill>
                <a:effectLst/>
                <a:latin typeface="-apple-system"/>
              </a:rPr>
              <a:t>EGR </a:t>
            </a:r>
            <a:r>
              <a:rPr lang="zh-CN" altLang="en-US" sz="2000" b="1" i="0" dirty="0">
                <a:solidFill>
                  <a:srgbClr val="1A1C1F"/>
                </a:solidFill>
                <a:effectLst/>
                <a:latin typeface="-apple-system"/>
              </a:rPr>
              <a:t>稀释后，要把入口氧气压力环境恢复到无 </a:t>
            </a:r>
            <a:r>
              <a:rPr lang="en-US" altLang="zh-CN" sz="2000" b="1" i="0" dirty="0">
                <a:solidFill>
                  <a:srgbClr val="1A1C1F"/>
                </a:solidFill>
                <a:effectLst/>
                <a:latin typeface="-apple-system"/>
              </a:rPr>
              <a:t>EGR </a:t>
            </a:r>
            <a:r>
              <a:rPr lang="zh-CN" altLang="en-US" sz="2000" b="1" i="0" dirty="0">
                <a:solidFill>
                  <a:srgbClr val="1A1C1F"/>
                </a:solidFill>
                <a:effectLst/>
                <a:latin typeface="-apple-system"/>
              </a:rPr>
              <a:t>基准，需要空压机</a:t>
            </a:r>
            <a:r>
              <a:rPr lang="en-US" altLang="zh-CN" sz="2000" b="1" i="0" dirty="0">
                <a:solidFill>
                  <a:srgbClr val="1A1C1F"/>
                </a:solidFill>
                <a:effectLst/>
                <a:latin typeface="-apple-system"/>
              </a:rPr>
              <a:t>/</a:t>
            </a:r>
            <a:r>
              <a:rPr lang="zh-CN" altLang="en-US" sz="2000" b="1" i="0" dirty="0">
                <a:solidFill>
                  <a:srgbClr val="1A1C1F"/>
                </a:solidFill>
                <a:effectLst/>
                <a:latin typeface="-apple-system"/>
              </a:rPr>
              <a:t>台架供气提高到什么程度；这时氧气实际入堆流量可能会比基准高。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997D3D-B299-8321-E12E-4FC4AD01D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24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651F86CF-6A7C-27CE-B134-999F8DF27D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0" y="3820317"/>
            <a:ext cx="5550421" cy="2638456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模型内容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4A3F7E-7AF8-827C-6CAC-6145068941AC}"/>
              </a:ext>
            </a:extLst>
          </p:cNvPr>
          <p:cNvSpPr txBox="1"/>
          <p:nvPr/>
        </p:nvSpPr>
        <p:spPr>
          <a:xfrm>
            <a:off x="649959" y="5825863"/>
            <a:ext cx="4797826" cy="483876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模型采用自吸方式车载结构，参数基于短堆台架测试数据、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GZS60P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加湿器拟合，用于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EGR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工况趋势判断。</a:t>
            </a:r>
            <a:endParaRPr lang="zh-CN" altLang="en-US" sz="1400" dirty="0">
              <a:solidFill>
                <a:srgbClr val="152A8C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18FCF48-C3B7-395A-6066-43D4DC78B097}"/>
              </a:ext>
            </a:extLst>
          </p:cNvPr>
          <p:cNvGrpSpPr/>
          <p:nvPr/>
        </p:nvGrpSpPr>
        <p:grpSpPr>
          <a:xfrm>
            <a:off x="962145" y="1327394"/>
            <a:ext cx="3715266" cy="2105498"/>
            <a:chOff x="884600" y="1328902"/>
            <a:chExt cx="3715266" cy="210549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BADEB07-B32C-E1F9-C12E-C6CFBB995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600" y="1328902"/>
              <a:ext cx="3715266" cy="1662376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53FB230-AA53-ABA0-4F61-D1A8EA2DC0BA}"/>
                </a:ext>
              </a:extLst>
            </p:cNvPr>
            <p:cNvSpPr txBox="1"/>
            <p:nvPr/>
          </p:nvSpPr>
          <p:spPr>
            <a:xfrm>
              <a:off x="1498715" y="3157401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PEMFC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阴极尾气循环系统车载结构</a:t>
              </a:r>
              <a:endParaRPr lang="zh-CN" altLang="en-US" sz="1200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F31724D-5909-0C92-040A-1761ACC30D10}"/>
              </a:ext>
            </a:extLst>
          </p:cNvPr>
          <p:cNvGrpSpPr/>
          <p:nvPr/>
        </p:nvGrpSpPr>
        <p:grpSpPr>
          <a:xfrm>
            <a:off x="772945" y="3727297"/>
            <a:ext cx="4358293" cy="1870802"/>
            <a:chOff x="695400" y="3728805"/>
            <a:chExt cx="4358293" cy="187080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9209F68-CAEF-727C-7132-19BDCC920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400" y="3728805"/>
              <a:ext cx="4358293" cy="1516803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2807346-3574-D488-44BB-B1BE78A4E595}"/>
                </a:ext>
              </a:extLst>
            </p:cNvPr>
            <p:cNvSpPr txBox="1"/>
            <p:nvPr/>
          </p:nvSpPr>
          <p:spPr>
            <a:xfrm>
              <a:off x="1476659" y="5322608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Simulink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系统模型</a:t>
              </a:r>
              <a:endParaRPr lang="zh-CN" altLang="en-US" sz="1200" b="1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BA2F18A-4878-FA32-48AF-DC28C9F0192C}"/>
              </a:ext>
            </a:extLst>
          </p:cNvPr>
          <p:cNvGrpSpPr/>
          <p:nvPr/>
        </p:nvGrpSpPr>
        <p:grpSpPr>
          <a:xfrm>
            <a:off x="5904270" y="927230"/>
            <a:ext cx="5213803" cy="2837874"/>
            <a:chOff x="5826725" y="928738"/>
            <a:chExt cx="5213803" cy="283787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0C4794B-DA82-98D9-543E-FD1B2A79502F}"/>
                </a:ext>
              </a:extLst>
            </p:cNvPr>
            <p:cNvPicPr>
              <a:picLocks/>
            </p:cNvPicPr>
            <p:nvPr/>
          </p:nvPicPr>
          <p:blipFill>
            <a:blip r:embed="rId6"/>
            <a:srcRect b="18764"/>
            <a:stretch/>
          </p:blipFill>
          <p:spPr>
            <a:xfrm>
              <a:off x="5826725" y="928738"/>
              <a:ext cx="5213803" cy="2505662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21D849C-CB70-9BA8-67C9-F509A8F7D3C7}"/>
                </a:ext>
              </a:extLst>
            </p:cNvPr>
            <p:cNvSpPr txBox="1"/>
            <p:nvPr/>
          </p:nvSpPr>
          <p:spPr>
            <a:xfrm>
              <a:off x="7226189" y="3489613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模块计算内容</a:t>
              </a:r>
              <a:endParaRPr lang="zh-CN" altLang="en-US" sz="1200" b="1" dirty="0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3BE6C7A-9C70-E888-2424-EFB07C895890}"/>
              </a:ext>
            </a:extLst>
          </p:cNvPr>
          <p:cNvCxnSpPr/>
          <p:nvPr/>
        </p:nvCxnSpPr>
        <p:spPr>
          <a:xfrm>
            <a:off x="5453465" y="1411268"/>
            <a:ext cx="0" cy="424847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9FC7BF-10BA-9E70-4A95-DDDF2B3050A9}"/>
              </a:ext>
            </a:extLst>
          </p:cNvPr>
          <p:cNvGrpSpPr/>
          <p:nvPr/>
        </p:nvGrpSpPr>
        <p:grpSpPr>
          <a:xfrm>
            <a:off x="7303734" y="4147572"/>
            <a:ext cx="2719674" cy="2552753"/>
            <a:chOff x="7226189" y="4149080"/>
            <a:chExt cx="2719674" cy="255275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9FDED93-4351-7CD1-6915-15AFDD1BEF7A}"/>
                </a:ext>
              </a:extLst>
            </p:cNvPr>
            <p:cNvSpPr txBox="1"/>
            <p:nvPr/>
          </p:nvSpPr>
          <p:spPr>
            <a:xfrm>
              <a:off x="7226189" y="6424834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短堆台架测试拟合</a:t>
              </a:r>
              <a:endParaRPr lang="zh-CN" altLang="en-US" sz="1200" b="1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A0E4B19-DA61-5564-9382-209069929DC2}"/>
                </a:ext>
              </a:extLst>
            </p:cNvPr>
            <p:cNvSpPr txBox="1"/>
            <p:nvPr/>
          </p:nvSpPr>
          <p:spPr>
            <a:xfrm>
              <a:off x="7912119" y="4149080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1.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电压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1FFE49F-E1F7-EF91-E4C2-7B72114C1CCD}"/>
                </a:ext>
              </a:extLst>
            </p:cNvPr>
            <p:cNvSpPr txBox="1"/>
            <p:nvPr/>
          </p:nvSpPr>
          <p:spPr>
            <a:xfrm>
              <a:off x="8614792" y="4149080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2.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温度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47617E1-570D-9576-2153-B2F8A71418B6}"/>
                </a:ext>
              </a:extLst>
            </p:cNvPr>
            <p:cNvSpPr txBox="1"/>
            <p:nvPr/>
          </p:nvSpPr>
          <p:spPr>
            <a:xfrm>
              <a:off x="7912119" y="5411567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3.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压力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9E18DB6-EA5C-7BA9-B345-B05060B3F964}"/>
                </a:ext>
              </a:extLst>
            </p:cNvPr>
            <p:cNvSpPr txBox="1"/>
            <p:nvPr/>
          </p:nvSpPr>
          <p:spPr>
            <a:xfrm>
              <a:off x="8616280" y="5405314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4.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湿度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1FD9304-D325-E280-C681-2D46D08F0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1" y="1412818"/>
            <a:ext cx="10592632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E369B9-2ACB-D8E0-AAC0-27CE55E169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E0356F-1894-C9AE-F46D-3BD7F8F4C3CB}"/>
              </a:ext>
            </a:extLst>
          </p:cNvPr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）：看氧稀释和电压下降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EB5263-7E56-B7A1-7851-915F7A842379}"/>
              </a:ext>
            </a:extLst>
          </p:cNvPr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30DBD-AC9F-1817-B97F-20C9B92AB144}"/>
              </a:ext>
            </a:extLst>
          </p:cNvPr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5D310B-69F1-F854-A4B1-1EEC3C550789}"/>
              </a:ext>
            </a:extLst>
          </p:cNvPr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计量比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C565E-14A6-E55A-5381-B1CB9268D862}"/>
              </a:ext>
            </a:extLst>
          </p:cNvPr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含湿量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F1A41B-D5AD-51FB-8277-C94C68875452}"/>
              </a:ext>
            </a:extLst>
          </p:cNvPr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水分压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BAFCC5-B886-1F75-B32B-854A76530D2B}"/>
              </a:ext>
            </a:extLst>
          </p:cNvPr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30268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D035-79E2-F521-3D39-DAC96B97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1207FD2-B593-DDCC-1864-B19AEF6880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1" y="1412172"/>
            <a:ext cx="10596103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D07351-44AA-1D83-479B-65612CA188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4B62B8-F347-0A33-0B98-D299C5EA78B3}"/>
              </a:ext>
            </a:extLst>
          </p:cNvPr>
          <p:cNvSpPr txBox="1"/>
          <p:nvPr/>
        </p:nvSpPr>
        <p:spPr>
          <a:xfrm>
            <a:off x="477722" y="957028"/>
            <a:ext cx="10370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0.8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0.775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0.75 V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）：同电压下可输出电流下降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DCEE8-9C16-958E-603E-4A5F44800903}"/>
              </a:ext>
            </a:extLst>
          </p:cNvPr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0CB99-A2AD-B1C2-FAB7-69E657255295}"/>
              </a:ext>
            </a:extLst>
          </p:cNvPr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电流密度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3FB7A5-0EBA-E71F-7257-3EFE22D255B0}"/>
              </a:ext>
            </a:extLst>
          </p:cNvPr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氢气消耗量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8DE5A0-FA73-7BF0-DC44-2FFB13902D2D}"/>
              </a:ext>
            </a:extLst>
          </p:cNvPr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电堆功率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FCACF4-56C8-7205-0EC5-CF3B331BF466}"/>
              </a:ext>
            </a:extLst>
          </p:cNvPr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41A3A3-593A-D64A-03BB-532016510681}"/>
              </a:ext>
            </a:extLst>
          </p:cNvPr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69262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F085-0114-192D-8BE9-A547AB922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AEBCC53-C73A-7F27-8349-B1166F8EC4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4" y="1411388"/>
            <a:ext cx="10634280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E9595A2-FF34-57E3-9F20-011BDEC1A7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791535-2FFE-30A5-6B70-815780D73DD9}"/>
              </a:ext>
            </a:extLst>
          </p:cNvPr>
          <p:cNvSpPr txBox="1"/>
          <p:nvPr/>
        </p:nvSpPr>
        <p:spPr>
          <a:xfrm>
            <a:off x="477722" y="957028"/>
            <a:ext cx="10370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恒氧分压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）：维持氧分压需要更高供气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2D43B7-FDD7-DE7F-E7E7-BB002D244A79}"/>
              </a:ext>
            </a:extLst>
          </p:cNvPr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260BA2-6F83-E971-ED75-4F083A21F2EA}"/>
              </a:ext>
            </a:extLst>
          </p:cNvPr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阴极入口氧分压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7208A5-C5B5-2A88-463F-5EDE9B1401D5}"/>
              </a:ext>
            </a:extLst>
          </p:cNvPr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A6F071-81AF-A59A-1FAD-CF3C6F69FF4B}"/>
              </a:ext>
            </a:extLst>
          </p:cNvPr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空压机流量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AF24CA-7E6B-A510-956F-238C2B2C2A7C}"/>
              </a:ext>
            </a:extLst>
          </p:cNvPr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阴极入口水蒸气分压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1994F6-AE87-3172-23C9-A8309291CDA9}"/>
              </a:ext>
            </a:extLst>
          </p:cNvPr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91447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CB549841-9C3F-8C82-6099-19A9B9BC56B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0"/>
          <a:stretch/>
        </p:blipFill>
        <p:spPr>
          <a:xfrm>
            <a:off x="5591944" y="941652"/>
            <a:ext cx="5466480" cy="263880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600BD76-15F7-4A68-60A2-3EEBBCED4E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177" y="3904184"/>
            <a:ext cx="5551143" cy="26388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0A88101-31BA-96D3-F721-DA9B4A5D50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台架结构模型内容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234A76-4EC8-687C-B117-809D7D9601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476" y="1847038"/>
            <a:ext cx="3188233" cy="23890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799799-07C5-86A6-A0B9-D64617E002FE}"/>
              </a:ext>
            </a:extLst>
          </p:cNvPr>
          <p:cNvSpPr txBox="1"/>
          <p:nvPr/>
        </p:nvSpPr>
        <p:spPr>
          <a:xfrm>
            <a:off x="908799" y="4480553"/>
            <a:ext cx="3600400" cy="12241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模型采用自吸方式台架测试，参数基于短堆台架测试数据、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60DQ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氢气循环泵拟合，用于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EGR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工况趋势判断。</a:t>
            </a:r>
            <a:endParaRPr lang="zh-CN" altLang="en-US" sz="1400" dirty="0">
              <a:solidFill>
                <a:srgbClr val="152A8C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8A93D3-5762-7941-B699-74EC6DCA9390}"/>
              </a:ext>
            </a:extLst>
          </p:cNvPr>
          <p:cNvSpPr txBox="1"/>
          <p:nvPr/>
        </p:nvSpPr>
        <p:spPr>
          <a:xfrm>
            <a:off x="6977700" y="6581001"/>
            <a:ext cx="271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短堆台架测试拟合</a:t>
            </a:r>
            <a:endParaRPr lang="zh-CN" altLang="en-US" sz="1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26D5F4-1FA9-C43C-3E2C-8CF0679DD528}"/>
              </a:ext>
            </a:extLst>
          </p:cNvPr>
          <p:cNvSpPr txBox="1"/>
          <p:nvPr/>
        </p:nvSpPr>
        <p:spPr>
          <a:xfrm>
            <a:off x="7768103" y="4092191"/>
            <a:ext cx="360040" cy="249681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E1AE68-7E28-A8FD-B317-FE2A813FB0EE}"/>
              </a:ext>
            </a:extLst>
          </p:cNvPr>
          <p:cNvSpPr txBox="1"/>
          <p:nvPr/>
        </p:nvSpPr>
        <p:spPr>
          <a:xfrm>
            <a:off x="8470776" y="4092191"/>
            <a:ext cx="360040" cy="249681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5AA039-270C-5F11-E52D-DA055CC8911E}"/>
              </a:ext>
            </a:extLst>
          </p:cNvPr>
          <p:cNvSpPr txBox="1"/>
          <p:nvPr/>
        </p:nvSpPr>
        <p:spPr>
          <a:xfrm>
            <a:off x="7768103" y="5354678"/>
            <a:ext cx="360040" cy="249681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压力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E0B639-38C4-04E0-62AC-F2038AF2A401}"/>
              </a:ext>
            </a:extLst>
          </p:cNvPr>
          <p:cNvSpPr txBox="1"/>
          <p:nvPr/>
        </p:nvSpPr>
        <p:spPr>
          <a:xfrm>
            <a:off x="8472264" y="5348425"/>
            <a:ext cx="360040" cy="249681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湿度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A121D8-CE55-7A40-24D4-24544515D939}"/>
              </a:ext>
            </a:extLst>
          </p:cNvPr>
          <p:cNvSpPr txBox="1"/>
          <p:nvPr/>
        </p:nvSpPr>
        <p:spPr>
          <a:xfrm>
            <a:off x="6965347" y="3578080"/>
            <a:ext cx="271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模块计算内容</a:t>
            </a:r>
            <a:endParaRPr lang="zh-CN" altLang="en-US" sz="1200" b="1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2C85996-579B-DE1A-B6BF-31969286D1B0}"/>
              </a:ext>
            </a:extLst>
          </p:cNvPr>
          <p:cNvCxnSpPr/>
          <p:nvPr/>
        </p:nvCxnSpPr>
        <p:spPr>
          <a:xfrm>
            <a:off x="4799856" y="1730843"/>
            <a:ext cx="0" cy="424847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91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564B-4D23-0C5B-9E34-F9C8C9FB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85B6600-9A61-9766-D2A9-9668DD6C02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72" y="1412818"/>
            <a:ext cx="10637751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26EFD4F-4DFA-960C-C715-082B2CEE51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85CEE3-9115-F956-7C8B-C9790F035DD7}"/>
              </a:ext>
            </a:extLst>
          </p:cNvPr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）：看氧稀释和电压下降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F9F0C1-4FFB-D26B-75F0-1D673AA1F8DF}"/>
              </a:ext>
            </a:extLst>
          </p:cNvPr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77E515-B476-265B-B5D7-1C8D260BFF57}"/>
              </a:ext>
            </a:extLst>
          </p:cNvPr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功率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94004E-2570-6E83-AAEE-DF82070F98F0}"/>
              </a:ext>
            </a:extLst>
          </p:cNvPr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FCE127-FD01-5000-5944-2DBA477068B7}"/>
              </a:ext>
            </a:extLst>
          </p:cNvPr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160706-8E09-C522-A3FB-F15AA23AC865}"/>
              </a:ext>
            </a:extLst>
          </p:cNvPr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相对湿度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CBBE68-BC66-BFBE-0EF4-3398A1C3C87A}"/>
              </a:ext>
            </a:extLst>
          </p:cNvPr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350577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1EDB8-D602-3E4A-5051-39A6D6EC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BC09A616-0758-457F-AAE6-72A4699DD5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1" y="1412172"/>
            <a:ext cx="10596103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B780FA8-B64E-8F6C-A395-CED1D6F8C2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0B04EC-2149-5920-93DE-34AB22B203A5}"/>
              </a:ext>
            </a:extLst>
          </p:cNvPr>
          <p:cNvSpPr txBox="1"/>
          <p:nvPr/>
        </p:nvSpPr>
        <p:spPr>
          <a:xfrm>
            <a:off x="477722" y="957028"/>
            <a:ext cx="10370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0.8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0.775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0.75 V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）：同电压下可输出电流下降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E25DB3-D903-CB9F-100E-0DF7DD399EBF}"/>
              </a:ext>
            </a:extLst>
          </p:cNvPr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A68DE5-E093-5A47-6B78-6B5BA9525E7D}"/>
              </a:ext>
            </a:extLst>
          </p:cNvPr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电流密度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1C3FA0-F967-2796-E133-767B8FE4F4D6}"/>
              </a:ext>
            </a:extLst>
          </p:cNvPr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氢气消耗量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B92A45-CDE4-3EB8-6EAE-1EE4A3A88142}"/>
              </a:ext>
            </a:extLst>
          </p:cNvPr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电堆功率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32365D-1948-5DF4-63F6-6107DDB90B39}"/>
              </a:ext>
            </a:extLst>
          </p:cNvPr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0D1690-90ED-D6EC-C0C1-BA957259E94C}"/>
              </a:ext>
            </a:extLst>
          </p:cNvPr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阴极入口含湿量</a:t>
            </a:r>
          </a:p>
        </p:txBody>
      </p:sp>
    </p:spTree>
    <p:extLst>
      <p:ext uri="{BB962C8B-B14F-4D97-AF65-F5344CB8AC3E}">
        <p14:creationId xmlns:p14="http://schemas.microsoft.com/office/powerpoint/2010/main" val="416114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3FED-3D29-C799-A104-DEEBD421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F80A2AC0-D4D4-E438-D831-238618DDA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32" y="1399174"/>
            <a:ext cx="10485640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F367618-DBD6-A022-4F3A-357F148AD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576464-E724-F4B9-E864-F1379C33FA32}"/>
              </a:ext>
            </a:extLst>
          </p:cNvPr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恒氧分压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0-0.25EGR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）：维持氧分压需要更高供气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63A03B-19A3-A1E1-8AB0-AD1E7B7539D9}"/>
              </a:ext>
            </a:extLst>
          </p:cNvPr>
          <p:cNvSpPr txBox="1"/>
          <p:nvPr/>
        </p:nvSpPr>
        <p:spPr>
          <a:xfrm>
            <a:off x="2207568" y="1947996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A329D8-80BD-F1D0-CE83-E8AACC017CFA}"/>
              </a:ext>
            </a:extLst>
          </p:cNvPr>
          <p:cNvSpPr txBox="1"/>
          <p:nvPr/>
        </p:nvSpPr>
        <p:spPr>
          <a:xfrm>
            <a:off x="5638800" y="1844824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C93E06-5A28-A861-1E66-B599E50D0888}"/>
              </a:ext>
            </a:extLst>
          </p:cNvPr>
          <p:cNvSpPr txBox="1"/>
          <p:nvPr/>
        </p:nvSpPr>
        <p:spPr>
          <a:xfrm>
            <a:off x="9070032" y="188134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计量比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EC7424-5D78-9061-72E2-B7E831F24426}"/>
              </a:ext>
            </a:extLst>
          </p:cNvPr>
          <p:cNvSpPr txBox="1"/>
          <p:nvPr/>
        </p:nvSpPr>
        <p:spPr>
          <a:xfrm>
            <a:off x="2156139" y="431058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空压机流量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1D15EC-1BCA-7239-226E-7FB3064BEDE7}"/>
              </a:ext>
            </a:extLst>
          </p:cNvPr>
          <p:cNvSpPr txBox="1"/>
          <p:nvPr/>
        </p:nvSpPr>
        <p:spPr>
          <a:xfrm>
            <a:off x="5638800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阴极入口流量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BC6F01-E390-81AF-3C7C-E42A54593B51}"/>
              </a:ext>
            </a:extLst>
          </p:cNvPr>
          <p:cNvSpPr txBox="1"/>
          <p:nvPr/>
        </p:nvSpPr>
        <p:spPr>
          <a:xfrm>
            <a:off x="9070032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入堆压力</a:t>
            </a:r>
          </a:p>
        </p:txBody>
      </p:sp>
    </p:spTree>
    <p:extLst>
      <p:ext uri="{BB962C8B-B14F-4D97-AF65-F5344CB8AC3E}">
        <p14:creationId xmlns:p14="http://schemas.microsoft.com/office/powerpoint/2010/main" val="211921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764</Words>
  <Application>Microsoft Office PowerPoint</Application>
  <PresentationFormat>宽屏</PresentationFormat>
  <Paragraphs>91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-apple-system</vt:lpstr>
      <vt:lpstr>等线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俊樑 吴</cp:lastModifiedBy>
  <cp:revision>1002</cp:revision>
  <cp:lastPrinted>2023-05-19T05:02:00Z</cp:lastPrinted>
  <dcterms:created xsi:type="dcterms:W3CDTF">2015-12-28T03:19:00Z</dcterms:created>
  <dcterms:modified xsi:type="dcterms:W3CDTF">2026-06-07T07:03:19Z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BD4BD74D07494004974F27AABDF40CFE_13</vt:lpwstr>
  </property>
  <property fmtid="{D5CDD505-2E9C-101B-9397-08002B2CF9AE}" pid="3" name="KSOProductBuildVer">
    <vt:lpwstr>2052-12.1.0.25865</vt:lpwstr>
  </property>
</Properties>
</file>