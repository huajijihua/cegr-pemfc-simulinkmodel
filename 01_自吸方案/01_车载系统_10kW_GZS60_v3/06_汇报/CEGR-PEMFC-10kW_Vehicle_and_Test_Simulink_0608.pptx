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77" r:id="rId3"/>
    <p:sldId id="388" r:id="rId5"/>
    <p:sldId id="378" r:id="rId6"/>
    <p:sldId id="381" r:id="rId7"/>
    <p:sldId id="382" r:id="rId8"/>
    <p:sldId id="383" r:id="rId9"/>
    <p:sldId id="385" r:id="rId10"/>
    <p:sldId id="387" r:id="rId11"/>
    <p:sldId id="386" r:id="rId12"/>
    <p:sldId id="389" r:id="rId13"/>
  </p:sldIdLst>
  <p:sldSz cx="12192000" cy="6858000"/>
  <p:notesSz cx="6797675" cy="992632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  <p:cmAuthor id="2" name="吴俊樑" initials="吴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2A8C"/>
    <a:srgbClr val="00B050"/>
    <a:srgbClr val="F1F1F1"/>
    <a:srgbClr val="F2F2F2"/>
    <a:srgbClr val="FF374A"/>
    <a:srgbClr val="4964E4"/>
    <a:srgbClr val="84EB7A"/>
    <a:srgbClr val="B10011"/>
    <a:srgbClr val="F5B482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01" autoAdjust="0"/>
    <p:restoredTop sz="86388" autoAdjust="0"/>
  </p:normalViewPr>
  <p:slideViewPr>
    <p:cSldViewPr snapToObjects="1">
      <p:cViewPr varScale="1">
        <p:scale>
          <a:sx n="105" d="100"/>
          <a:sy n="105" d="100"/>
        </p:scale>
        <p:origin x="1253" y="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42" d="100"/>
          <a:sy n="42" d="100"/>
        </p:scale>
        <p:origin x="-1757" y="-96"/>
      </p:cViewPr>
      <p:guideLst>
        <p:guide orient="horz" pos="3365"/>
        <p:guide pos="216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826" y="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0259903-FC65-400A-9E76-C4C330AD3D6E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08" tIns="46054" rIns="92108" bIns="4605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288" y="4777245"/>
            <a:ext cx="5439101" cy="3908363"/>
          </a:xfrm>
          <a:prstGeom prst="rect">
            <a:avLst/>
          </a:prstGeom>
        </p:spPr>
        <p:txBody>
          <a:bodyPr vert="horz" lIns="92108" tIns="46054" rIns="92108" bIns="46054" rtlCol="0"/>
          <a:lstStyle/>
          <a:p>
            <a:pPr lv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31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826" y="942831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67DAE94-9449-4026-AC54-378A5A1A863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1pPr>
    <a:lvl2pPr marL="48577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2pPr>
    <a:lvl3pPr marL="97155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3pPr>
    <a:lvl4pPr marL="145732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4pPr>
    <a:lvl5pPr marL="194310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5pPr>
    <a:lvl6pPr marL="242951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6pPr>
    <a:lvl7pPr marL="291528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7pPr>
    <a:lvl8pPr marL="340106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8pPr>
    <a:lvl9pPr marL="388683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无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基准覆盖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13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个台架稳态点，压力顺序通过。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单电池电压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RMSE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约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8.5 mV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，温度范围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61.9-80.3 </a:t>
            </a:r>
            <a:r>
              <a:rPr lang="en-US" altLang="zh-CN" sz="1400" dirty="0" err="1">
                <a:latin typeface="Arial" panose="020B0604020202020204" pitchFamily="34" charset="0"/>
                <a:ea typeface="微软雅黑" panose="020B0503020204020204" pitchFamily="34" charset="-122"/>
              </a:rPr>
              <a:t>degC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，入堆氧分压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27.7-47.7 kPa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当前模型适合做电压、氧分压、温度的半定量判断。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由于采用加湿器，湿度误差仍偏大，湿度结论只作为趋势参考，不作为强定量结论。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趋势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固定电流和固定供气时，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增大会降低入堆氧分压和实际氧计量比。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EGR=0.3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时，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0.1/0.2/0.3 A/cm2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电压下降约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0.6/1.1/1.4 mV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EGR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继续升高，高电流点会接近缺氧边界。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判断：电压降低需求低计量比。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7DAE94-9449-4026-AC54-378A5A1A86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固定目标单电池电压时，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越高，系统可输出电流越低。</a:t>
            </a:r>
            <a:endParaRPr lang="zh-CN" altLang="en-US" sz="12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- EGR=0.3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时，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0.800/0.775/0.750 V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下电流下降约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1.9%/2.4%/2.4%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  <a:endParaRPr lang="zh-CN" altLang="en-US" sz="12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- EGR=0.7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时，电流下降扩大到约</a:t>
            </a:r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12%-16%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。</a:t>
            </a:r>
            <a:endParaRPr lang="zh-CN" altLang="en-US" sz="12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12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对实验的含义：</a:t>
            </a:r>
            <a:r>
              <a:rPr lang="en-US" altLang="zh-CN" sz="1200" dirty="0" err="1">
                <a:latin typeface="Arial" panose="020B0604020202020204" pitchFamily="34" charset="0"/>
                <a:ea typeface="微软雅黑" panose="020B0503020204020204" pitchFamily="34" charset="-122"/>
              </a:rPr>
              <a:t>cEGR</a:t>
            </a:r>
            <a:r>
              <a:rPr lang="zh-CN" altLang="en-US" sz="1200" dirty="0">
                <a:latin typeface="Arial" panose="020B0604020202020204" pitchFamily="34" charset="0"/>
                <a:ea typeface="微软雅黑" panose="020B0503020204020204" pitchFamily="34" charset="-122"/>
              </a:rPr>
              <a:t>不能只看电压，还要同步记录电流、氢耗、氧计量比和入口氧分压。</a:t>
            </a:r>
            <a:endParaRPr lang="zh-CN" altLang="en-US" sz="12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7DAE94-9449-4026-AC54-378A5A1A86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若强行维持入堆氧分压，需要提高新鲜空气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空压机入口流量。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EGR=0.3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时，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0.1 A/cm2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流量约增加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76%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0.2 A/cm2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接近翻倍。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- 0.3 A/cm2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下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EGR=0.3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已触发压力链失效，不作为有效工况。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- 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技术判断：</a:t>
            </a:r>
            <a:r>
              <a:rPr lang="en-US" altLang="zh-CN" sz="1400" dirty="0" err="1">
                <a:latin typeface="Arial" panose="020B0604020202020204" pitchFamily="34" charset="0"/>
                <a:ea typeface="微软雅黑" panose="020B0503020204020204" pitchFamily="34" charset="-122"/>
              </a:rPr>
              <a:t>cEGR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适合重点评估低负荷自增湿、冷启动和高电位限制；高负荷或高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dirty="0">
                <a:latin typeface="Arial" panose="020B0604020202020204" pitchFamily="34" charset="0"/>
                <a:ea typeface="微软雅黑" panose="020B0503020204020204" pitchFamily="34" charset="-122"/>
              </a:rPr>
              <a:t>需要严格限制，下一步应补空压机功耗和台架闭环验证后再评估净效率。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7DAE94-9449-4026-AC54-378A5A1A86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7DAE94-9449-4026-AC54-378A5A1A86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7DAE94-9449-4026-AC54-378A5A1A86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7DAE94-9449-4026-AC54-378A5A1A86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000" b="1" i="0" dirty="0">
                <a:solidFill>
                  <a:srgbClr val="1A1C1F"/>
                </a:solidFill>
                <a:effectLst/>
                <a:latin typeface="-apple-system"/>
              </a:rPr>
              <a:t>EGR </a:t>
            </a:r>
            <a:r>
              <a:rPr lang="zh-CN" altLang="en-US" sz="2000" b="1" i="0" dirty="0">
                <a:solidFill>
                  <a:srgbClr val="1A1C1F"/>
                </a:solidFill>
                <a:effectLst/>
                <a:latin typeface="-apple-system"/>
              </a:rPr>
              <a:t>稀释后，要把入口氧气压力环境恢复到无 </a:t>
            </a:r>
            <a:r>
              <a:rPr lang="en-US" altLang="zh-CN" sz="2000" b="1" i="0" dirty="0">
                <a:solidFill>
                  <a:srgbClr val="1A1C1F"/>
                </a:solidFill>
                <a:effectLst/>
                <a:latin typeface="-apple-system"/>
              </a:rPr>
              <a:t>EGR </a:t>
            </a:r>
            <a:r>
              <a:rPr lang="zh-CN" altLang="en-US" sz="2000" b="1" i="0" dirty="0">
                <a:solidFill>
                  <a:srgbClr val="1A1C1F"/>
                </a:solidFill>
                <a:effectLst/>
                <a:latin typeface="-apple-system"/>
              </a:rPr>
              <a:t>基准，需要空压机</a:t>
            </a:r>
            <a:r>
              <a:rPr lang="en-US" altLang="zh-CN" sz="2000" b="1" i="0" dirty="0">
                <a:solidFill>
                  <a:srgbClr val="1A1C1F"/>
                </a:solidFill>
                <a:effectLst/>
                <a:latin typeface="-apple-system"/>
              </a:rPr>
              <a:t>/</a:t>
            </a:r>
            <a:r>
              <a:rPr lang="zh-CN" altLang="en-US" sz="2000" b="1" i="0" dirty="0">
                <a:solidFill>
                  <a:srgbClr val="1A1C1F"/>
                </a:solidFill>
                <a:effectLst/>
                <a:latin typeface="-apple-system"/>
              </a:rPr>
              <a:t>台架供气提高到什么程度；这时氧气实际入堆流量可能会比基准高。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67DAE94-9449-4026-AC54-378A5A1A86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0" y="2564904"/>
            <a:ext cx="12192000" cy="1775292"/>
          </a:xfrm>
          <a:prstGeom prst="rect">
            <a:avLst/>
          </a:prstGeom>
        </p:spPr>
        <p:txBody>
          <a:bodyPr anchor="ctr" anchorCtr="0"/>
          <a:lstStyle>
            <a:lvl1pPr algn="ctr">
              <a:lnSpc>
                <a:spcPct val="100000"/>
              </a:lnSpc>
              <a:defRPr sz="5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76097"/>
            <a:ext cx="9921552" cy="165576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6942142"/>
            <a:ext cx="12192000" cy="614361"/>
            <a:chOff x="0" y="6942142"/>
            <a:chExt cx="12192000" cy="614361"/>
          </a:xfrm>
        </p:grpSpPr>
        <p:sp>
          <p:nvSpPr>
            <p:cNvPr id="6" name="同侧圆角矩形 3"/>
            <p:cNvSpPr/>
            <p:nvPr userDrawn="1"/>
          </p:nvSpPr>
          <p:spPr>
            <a:xfrm rot="10800000">
              <a:off x="0" y="6942142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5903385" y="7004052"/>
              <a:ext cx="1512000" cy="4683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解放蓝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21/42/140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7431809" y="7004052"/>
              <a:ext cx="1512000" cy="4683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39/150/212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10488656" y="7004052"/>
              <a:ext cx="1512000" cy="4683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辅助红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177/0/17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封面页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8960233" y="7004052"/>
              <a:ext cx="1512000" cy="468311"/>
            </a:xfrm>
            <a:prstGeom prst="rect">
              <a:avLst/>
            </a:prstGeom>
            <a:solidFill>
              <a:srgbClr val="A7A9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辅助灰</a:t>
              </a:r>
              <a:endPara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167/169/172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65" y="-14605"/>
            <a:ext cx="12230735" cy="1291590"/>
          </a:xfrm>
          <a:prstGeom prst="rect">
            <a:avLst/>
          </a:prstGeom>
        </p:spPr>
      </p:pic>
      <p:pic>
        <p:nvPicPr>
          <p:cNvPr id="16" name="图形 3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2897" y="327314"/>
            <a:ext cx="2881252" cy="63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/>
          <p:cNvSpPr/>
          <p:nvPr userDrawn="1"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19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  <p:sp>
        <p:nvSpPr>
          <p:cNvPr id="11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7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  <a:endParaRPr lang="zh-CN" altLang="en-US" dirty="0"/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477723" y="1063639"/>
            <a:ext cx="11231448" cy="468452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532091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  <a:endParaRPr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052513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4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810" y="3791585"/>
            <a:ext cx="5939555" cy="2638800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车载结构</a:t>
            </a:r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模型内容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9959" y="5825863"/>
            <a:ext cx="4797826" cy="483876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rgbClr val="152A8C"/>
                </a:solidFill>
                <a:sym typeface="+mn-ea"/>
              </a:rPr>
              <a:t>模型采用自吸方式车载结构，参数基于短堆台架测试数据、</a:t>
            </a:r>
            <a:r>
              <a:rPr lang="en-US" altLang="zh-CN" sz="1400" dirty="0">
                <a:solidFill>
                  <a:srgbClr val="152A8C"/>
                </a:solidFill>
                <a:sym typeface="+mn-ea"/>
              </a:rPr>
              <a:t>GZS60P</a:t>
            </a:r>
            <a:r>
              <a:rPr lang="zh-CN" altLang="en-US" sz="1400" dirty="0">
                <a:solidFill>
                  <a:srgbClr val="152A8C"/>
                </a:solidFill>
                <a:sym typeface="+mn-ea"/>
              </a:rPr>
              <a:t>加湿器拟合，用于</a:t>
            </a:r>
            <a:r>
              <a:rPr lang="en-US" altLang="zh-CN" sz="1400" dirty="0">
                <a:solidFill>
                  <a:srgbClr val="152A8C"/>
                </a:solidFill>
                <a:sym typeface="+mn-ea"/>
              </a:rPr>
              <a:t>EGR</a:t>
            </a:r>
            <a:r>
              <a:rPr lang="zh-CN" altLang="en-US" sz="1400" dirty="0">
                <a:solidFill>
                  <a:srgbClr val="152A8C"/>
                </a:solidFill>
                <a:sym typeface="+mn-ea"/>
              </a:rPr>
              <a:t>工况趋势判断。</a:t>
            </a:r>
            <a:endParaRPr lang="zh-CN" altLang="en-US" sz="1400" dirty="0">
              <a:solidFill>
                <a:srgbClr val="152A8C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962145" y="1327394"/>
            <a:ext cx="3715266" cy="2105498"/>
            <a:chOff x="884600" y="1328902"/>
            <a:chExt cx="3715266" cy="2105498"/>
          </a:xfrm>
        </p:grpSpPr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4600" y="1328902"/>
              <a:ext cx="3715266" cy="1662376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1498715" y="3157401"/>
              <a:ext cx="271967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accent1"/>
                  </a:solidFill>
                  <a:latin typeface="Arial" panose="020B0604020202020204" pitchFamily="34" charset="0"/>
                  <a:sym typeface="+mn-ea"/>
                </a:rPr>
                <a:t>PEMFC</a:t>
              </a:r>
              <a:r>
                <a:rPr lang="zh-CN" altLang="en-US" sz="1200" b="1" dirty="0">
                  <a:solidFill>
                    <a:schemeClr val="accent1"/>
                  </a:solidFill>
                  <a:latin typeface="Arial" panose="020B0604020202020204" pitchFamily="34" charset="0"/>
                  <a:sym typeface="+mn-ea"/>
                </a:rPr>
                <a:t>阴极尾气循环系统车载结构</a:t>
              </a:r>
              <a:endParaRPr lang="zh-CN" altLang="en-US" sz="1200" b="1" dirty="0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72945" y="3727297"/>
            <a:ext cx="4358293" cy="1870802"/>
            <a:chOff x="695400" y="3728805"/>
            <a:chExt cx="4358293" cy="187080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5400" y="3728805"/>
              <a:ext cx="4358293" cy="1516803"/>
            </a:xfrm>
            <a:prstGeom prst="rect">
              <a:avLst/>
            </a:prstGeom>
            <a:ln>
              <a:noFill/>
            </a:ln>
          </p:spPr>
        </p:pic>
        <p:sp>
          <p:nvSpPr>
            <p:cNvPr id="7" name="文本框 6"/>
            <p:cNvSpPr txBox="1"/>
            <p:nvPr/>
          </p:nvSpPr>
          <p:spPr>
            <a:xfrm>
              <a:off x="1476659" y="5322608"/>
              <a:ext cx="271967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accent1"/>
                  </a:solidFill>
                  <a:latin typeface="Arial" panose="020B0604020202020204" pitchFamily="34" charset="0"/>
                  <a:sym typeface="+mn-ea"/>
                </a:rPr>
                <a:t>Simulink</a:t>
              </a:r>
              <a:r>
                <a:rPr lang="zh-CN" altLang="en-US" sz="1200" b="1" dirty="0">
                  <a:solidFill>
                    <a:schemeClr val="accent1"/>
                  </a:solidFill>
                  <a:latin typeface="Arial" panose="020B0604020202020204" pitchFamily="34" charset="0"/>
                  <a:sym typeface="+mn-ea"/>
                </a:rPr>
                <a:t>系统模型</a:t>
              </a:r>
              <a:endParaRPr lang="zh-CN" altLang="en-US" sz="1200" b="1" dirty="0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904270" y="927230"/>
            <a:ext cx="5213803" cy="2837874"/>
            <a:chOff x="5826725" y="928738"/>
            <a:chExt cx="5213803" cy="2837874"/>
          </a:xfrm>
        </p:grpSpPr>
        <p:pic>
          <p:nvPicPr>
            <p:cNvPr id="8" name="图片 7"/>
            <p:cNvPicPr/>
            <p:nvPr/>
          </p:nvPicPr>
          <p:blipFill>
            <a:blip r:embed="rId4"/>
            <a:srcRect b="18764"/>
            <a:stretch>
              <a:fillRect/>
            </a:stretch>
          </p:blipFill>
          <p:spPr>
            <a:xfrm>
              <a:off x="5826725" y="928738"/>
              <a:ext cx="5213803" cy="2505662"/>
            </a:xfrm>
            <a:prstGeom prst="rect">
              <a:avLst/>
            </a:prstGeom>
          </p:spPr>
        </p:pic>
        <p:sp>
          <p:nvSpPr>
            <p:cNvPr id="13" name="文本框 12"/>
            <p:cNvSpPr txBox="1"/>
            <p:nvPr/>
          </p:nvSpPr>
          <p:spPr>
            <a:xfrm>
              <a:off x="7226189" y="3489613"/>
              <a:ext cx="271967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accent1"/>
                  </a:solidFill>
                  <a:latin typeface="Arial" panose="020B0604020202020204" pitchFamily="34" charset="0"/>
                  <a:sym typeface="+mn-ea"/>
                </a:rPr>
                <a:t>模块计算内容</a:t>
              </a:r>
              <a:endParaRPr lang="zh-CN" altLang="en-US" sz="1200" b="1" dirty="0"/>
            </a:p>
          </p:txBody>
        </p:sp>
      </p:grpSp>
      <p:cxnSp>
        <p:nvCxnSpPr>
          <p:cNvPr id="19" name="直接连接符 18"/>
          <p:cNvCxnSpPr/>
          <p:nvPr/>
        </p:nvCxnSpPr>
        <p:spPr>
          <a:xfrm>
            <a:off x="5453465" y="1411268"/>
            <a:ext cx="0" cy="424847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/>
        </p:nvGrpSpPr>
        <p:grpSpPr>
          <a:xfrm>
            <a:off x="7303734" y="4147572"/>
            <a:ext cx="2719674" cy="2552753"/>
            <a:chOff x="7226189" y="4149080"/>
            <a:chExt cx="2719674" cy="2552753"/>
          </a:xfrm>
        </p:grpSpPr>
        <p:sp>
          <p:nvSpPr>
            <p:cNvPr id="9" name="文本框 8"/>
            <p:cNvSpPr txBox="1"/>
            <p:nvPr/>
          </p:nvSpPr>
          <p:spPr>
            <a:xfrm>
              <a:off x="7226189" y="6424834"/>
              <a:ext cx="271967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b="1" dirty="0">
                  <a:solidFill>
                    <a:schemeClr val="accent1"/>
                  </a:solidFill>
                  <a:latin typeface="Arial" panose="020B0604020202020204" pitchFamily="34" charset="0"/>
                  <a:sym typeface="+mn-ea"/>
                </a:rPr>
                <a:t>短堆台架测试拟合</a:t>
              </a:r>
              <a:endParaRPr lang="zh-CN" altLang="en-US" sz="1200" b="1" dirty="0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7912119" y="4149080"/>
              <a:ext cx="360040" cy="249681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noAutofit/>
            </a:bodyPr>
            <a:lstStyle/>
            <a:p>
              <a:pPr algn="l">
                <a:spcBef>
                  <a:spcPts val="600"/>
                </a:spcBef>
              </a:pPr>
              <a:r>
                <a:rPr lang="en-US" altLang="zh-CN" sz="1100" dirty="0">
                  <a:solidFill>
                    <a:schemeClr val="accent4"/>
                  </a:solidFill>
                  <a:latin typeface="+mj-lt"/>
                </a:rPr>
                <a:t>1.</a:t>
              </a:r>
              <a:r>
                <a:rPr lang="zh-CN" altLang="en-US" sz="1100" dirty="0">
                  <a:solidFill>
                    <a:schemeClr val="accent4"/>
                  </a:solidFill>
                  <a:latin typeface="+mj-lt"/>
                </a:rPr>
                <a:t>电压</a:t>
              </a:r>
              <a:endParaRPr lang="zh-CN" altLang="en-US" sz="1100" dirty="0">
                <a:solidFill>
                  <a:schemeClr val="accent4"/>
                </a:solidFill>
                <a:latin typeface="+mj-lt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8753222" y="4149080"/>
              <a:ext cx="360040" cy="249681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noAutofit/>
            </a:bodyPr>
            <a:lstStyle/>
            <a:p>
              <a:pPr algn="l">
                <a:spcBef>
                  <a:spcPts val="600"/>
                </a:spcBef>
              </a:pPr>
              <a:r>
                <a:rPr lang="en-US" altLang="zh-CN" sz="1100" dirty="0">
                  <a:solidFill>
                    <a:schemeClr val="accent4"/>
                  </a:solidFill>
                  <a:latin typeface="+mj-lt"/>
                </a:rPr>
                <a:t>2.</a:t>
              </a:r>
              <a:r>
                <a:rPr lang="zh-CN" altLang="en-US" sz="1100" dirty="0">
                  <a:solidFill>
                    <a:schemeClr val="accent4"/>
                  </a:solidFill>
                  <a:latin typeface="+mj-lt"/>
                </a:rPr>
                <a:t>温度</a:t>
              </a:r>
              <a:endParaRPr lang="zh-CN" altLang="en-US" sz="1100" dirty="0">
                <a:solidFill>
                  <a:schemeClr val="accent4"/>
                </a:solidFill>
                <a:latin typeface="+mj-lt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912119" y="5411567"/>
              <a:ext cx="360040" cy="249681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noAutofit/>
            </a:bodyPr>
            <a:lstStyle/>
            <a:p>
              <a:pPr algn="l">
                <a:spcBef>
                  <a:spcPts val="600"/>
                </a:spcBef>
              </a:pPr>
              <a:r>
                <a:rPr lang="en-US" altLang="zh-CN" sz="1100" dirty="0">
                  <a:solidFill>
                    <a:schemeClr val="accent4"/>
                  </a:solidFill>
                  <a:latin typeface="+mj-lt"/>
                </a:rPr>
                <a:t>3.</a:t>
              </a:r>
              <a:r>
                <a:rPr lang="zh-CN" altLang="en-US" sz="1100" dirty="0">
                  <a:solidFill>
                    <a:schemeClr val="accent4"/>
                  </a:solidFill>
                  <a:latin typeface="+mj-lt"/>
                </a:rPr>
                <a:t>压力</a:t>
              </a:r>
              <a:endParaRPr lang="zh-CN" altLang="en-US" sz="1100" dirty="0">
                <a:solidFill>
                  <a:schemeClr val="accent4"/>
                </a:solidFill>
                <a:latin typeface="+mj-lt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8754710" y="5405314"/>
              <a:ext cx="360040" cy="249681"/>
            </a:xfrm>
            <a:prstGeom prst="rect">
              <a:avLst/>
            </a:prstGeom>
            <a:noFill/>
          </p:spPr>
          <p:txBody>
            <a:bodyPr wrap="none" lIns="36000" tIns="36000" rIns="36000" bIns="36000" rtlCol="0">
              <a:noAutofit/>
            </a:bodyPr>
            <a:lstStyle/>
            <a:p>
              <a:pPr algn="l">
                <a:spcBef>
                  <a:spcPts val="600"/>
                </a:spcBef>
              </a:pPr>
              <a:r>
                <a:rPr lang="en-US" altLang="zh-CN" sz="1100" dirty="0">
                  <a:solidFill>
                    <a:schemeClr val="accent4"/>
                  </a:solidFill>
                  <a:latin typeface="+mj-lt"/>
                </a:rPr>
                <a:t>4.</a:t>
              </a:r>
              <a:r>
                <a:rPr lang="zh-CN" altLang="en-US" sz="1100" dirty="0">
                  <a:solidFill>
                    <a:schemeClr val="accent4"/>
                  </a:solidFill>
                  <a:latin typeface="+mj-lt"/>
                </a:rPr>
                <a:t>湿度</a:t>
              </a:r>
              <a:endParaRPr lang="zh-CN" altLang="en-US" sz="1100" dirty="0">
                <a:solidFill>
                  <a:schemeClr val="accent4"/>
                </a:solidFill>
                <a:latin typeface="+mj-lt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7" name="图片 16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21995"/>
            <a:ext cx="12192000" cy="54133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15" y="1412240"/>
            <a:ext cx="11318653" cy="5025600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车载结构</a:t>
            </a:r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仿真结果</a:t>
            </a:r>
            <a:r>
              <a:rPr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1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7723" y="957028"/>
            <a:ext cx="6480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恒电流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扫描（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0.1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0.2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0.3 A/cm</a:t>
            </a:r>
            <a:r>
              <a:rPr lang="en-US" altLang="zh-CN" sz="1400" b="1" baseline="30000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）：看氧稀释和电压下降</a:t>
            </a:r>
            <a:endParaRPr lang="zh-CN" altLang="en-US" sz="1400" b="1" dirty="0">
              <a:solidFill>
                <a:srgbClr val="152A8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07568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1.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电压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638800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2.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氧分压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70032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3.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计量比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56139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4.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含湿量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638800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5.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水分压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070032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6.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温度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15" y="1412240"/>
            <a:ext cx="11323967" cy="5025600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车载结构</a:t>
            </a:r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仿真结果</a:t>
            </a:r>
            <a:r>
              <a:rPr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2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7722" y="957028"/>
            <a:ext cx="103708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恒电压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扫描（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0.8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0.775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0.75 V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）：同电压下可输出电流下降</a:t>
            </a:r>
            <a:endParaRPr lang="zh-CN" altLang="en-US" sz="1400" b="1" dirty="0">
              <a:solidFill>
                <a:srgbClr val="152A8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zh-CN" altLang="en-US" sz="1400" b="1" dirty="0">
              <a:solidFill>
                <a:srgbClr val="152A8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07568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1.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电流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638800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2.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电流密度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70032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3.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氢气消耗量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56139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4.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电堆功率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638800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5.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氧计量比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070032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6.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温度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3570" y="1411605"/>
            <a:ext cx="11318653" cy="5025600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rPr lang="zh-CN" altLang="en-US" sz="2400" b="1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车载结构</a:t>
            </a:r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仿真结果</a:t>
            </a:r>
            <a:r>
              <a:rPr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3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7722" y="957028"/>
            <a:ext cx="103708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恒氧分压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扫描（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0.1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0.2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0.3 A/cm</a:t>
            </a:r>
            <a:r>
              <a:rPr lang="en-US" altLang="zh-CN" sz="1400" b="1" baseline="30000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 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）：维持氧分压需要更高供气</a:t>
            </a:r>
            <a:endParaRPr lang="zh-CN" altLang="en-US" sz="1400" b="1" dirty="0">
              <a:solidFill>
                <a:srgbClr val="152A8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207568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1.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电压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638800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2.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阴极入口氧分压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070032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3.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氧计量比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156139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4.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空压机流量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5638800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5.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阴极入口水蒸气分压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9070032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sz="1400" dirty="0">
                <a:solidFill>
                  <a:schemeClr val="accent4"/>
                </a:solidFill>
                <a:latin typeface="+mj-lt"/>
              </a:rPr>
              <a:t>6.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阴极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入口压力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4155" y="3869690"/>
            <a:ext cx="5939620" cy="2638800"/>
          </a:xfrm>
          <a:prstGeom prst="rect">
            <a:avLst/>
          </a:prstGeom>
        </p:spPr>
      </p:pic>
      <p:pic>
        <p:nvPicPr>
          <p:cNvPr id="21" name="图片 2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80"/>
          <a:stretch>
            <a:fillRect/>
          </a:stretch>
        </p:blipFill>
        <p:spPr>
          <a:xfrm>
            <a:off x="5591944" y="941652"/>
            <a:ext cx="5466480" cy="2638801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台架结构模型内容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476" y="1847038"/>
            <a:ext cx="3188233" cy="238908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08799" y="4480553"/>
            <a:ext cx="3600400" cy="1224136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zh-CN" altLang="en-US" sz="1400" dirty="0">
                <a:solidFill>
                  <a:srgbClr val="152A8C"/>
                </a:solidFill>
                <a:sym typeface="+mn-ea"/>
              </a:rPr>
              <a:t>模型采用自吸方式台架测试，参数基于短堆台架测试数据、</a:t>
            </a:r>
            <a:r>
              <a:rPr lang="en-US" altLang="zh-CN" sz="1400" dirty="0">
                <a:solidFill>
                  <a:srgbClr val="152A8C"/>
                </a:solidFill>
                <a:sym typeface="+mn-ea"/>
              </a:rPr>
              <a:t>60DQ</a:t>
            </a:r>
            <a:r>
              <a:rPr lang="zh-CN" altLang="en-US" sz="1400" dirty="0">
                <a:solidFill>
                  <a:srgbClr val="152A8C"/>
                </a:solidFill>
                <a:sym typeface="+mn-ea"/>
              </a:rPr>
              <a:t>氢气循环泵拟合，用于</a:t>
            </a:r>
            <a:r>
              <a:rPr lang="en-US" altLang="zh-CN" sz="1400" dirty="0">
                <a:solidFill>
                  <a:srgbClr val="152A8C"/>
                </a:solidFill>
                <a:sym typeface="+mn-ea"/>
              </a:rPr>
              <a:t>EGR</a:t>
            </a:r>
            <a:r>
              <a:rPr lang="zh-CN" altLang="en-US" sz="1400" dirty="0">
                <a:solidFill>
                  <a:srgbClr val="152A8C"/>
                </a:solidFill>
                <a:sym typeface="+mn-ea"/>
              </a:rPr>
              <a:t>工况趋势判断。</a:t>
            </a:r>
            <a:endParaRPr lang="zh-CN" altLang="en-US" sz="1400" dirty="0">
              <a:solidFill>
                <a:srgbClr val="152A8C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977700" y="6581001"/>
            <a:ext cx="2719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短堆台架测试拟合</a:t>
            </a:r>
            <a:endParaRPr lang="zh-CN" altLang="en-US" sz="12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7769225" y="4232275"/>
            <a:ext cx="342265" cy="253365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en-US" altLang="zh-CN" sz="1100" dirty="0">
                <a:solidFill>
                  <a:schemeClr val="accent4"/>
                </a:solidFill>
                <a:latin typeface="+mj-lt"/>
              </a:rPr>
              <a:t>1.</a:t>
            </a:r>
            <a:r>
              <a:rPr lang="zh-CN" altLang="en-US" sz="1100" dirty="0">
                <a:solidFill>
                  <a:schemeClr val="accent4"/>
                </a:solidFill>
                <a:latin typeface="+mj-lt"/>
              </a:rPr>
              <a:t>电压</a:t>
            </a:r>
            <a:endParaRPr lang="zh-CN" altLang="en-US" sz="11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814435" y="4220845"/>
            <a:ext cx="342265" cy="253365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en-US" altLang="zh-CN" sz="1100" dirty="0">
                <a:solidFill>
                  <a:schemeClr val="accent4"/>
                </a:solidFill>
                <a:latin typeface="+mj-lt"/>
              </a:rPr>
              <a:t>2.</a:t>
            </a:r>
            <a:r>
              <a:rPr lang="zh-CN" altLang="en-US" sz="1100" dirty="0">
                <a:solidFill>
                  <a:schemeClr val="accent4"/>
                </a:solidFill>
                <a:latin typeface="+mj-lt"/>
              </a:rPr>
              <a:t>温度</a:t>
            </a:r>
            <a:endParaRPr lang="zh-CN" altLang="en-US" sz="11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769225" y="5495290"/>
            <a:ext cx="342265" cy="253365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en-US" altLang="zh-CN" sz="1100" dirty="0">
                <a:solidFill>
                  <a:schemeClr val="accent4"/>
                </a:solidFill>
                <a:latin typeface="+mj-lt"/>
              </a:rPr>
              <a:t>3.</a:t>
            </a:r>
            <a:r>
              <a:rPr lang="zh-CN" altLang="en-US" sz="1100" dirty="0">
                <a:solidFill>
                  <a:schemeClr val="accent4"/>
                </a:solidFill>
                <a:latin typeface="+mj-lt"/>
              </a:rPr>
              <a:t>压力</a:t>
            </a:r>
            <a:endParaRPr lang="zh-CN" altLang="en-US" sz="11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815705" y="5477510"/>
            <a:ext cx="342265" cy="253365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spcBef>
                <a:spcPts val="600"/>
              </a:spcBef>
            </a:pPr>
            <a:r>
              <a:rPr lang="en-US" altLang="zh-CN" sz="1100" dirty="0">
                <a:solidFill>
                  <a:schemeClr val="accent4"/>
                </a:solidFill>
                <a:latin typeface="+mj-lt"/>
              </a:rPr>
              <a:t>4.</a:t>
            </a:r>
            <a:r>
              <a:rPr lang="zh-CN" altLang="en-US" sz="1100" dirty="0">
                <a:solidFill>
                  <a:schemeClr val="accent4"/>
                </a:solidFill>
                <a:latin typeface="+mj-lt"/>
              </a:rPr>
              <a:t>湿度</a:t>
            </a:r>
            <a:endParaRPr lang="zh-CN" altLang="en-US" sz="11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6965347" y="3578080"/>
            <a:ext cx="2719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模块计算内容</a:t>
            </a:r>
            <a:endParaRPr lang="zh-CN" altLang="en-US" sz="1200" b="1" dirty="0"/>
          </a:p>
        </p:txBody>
      </p:sp>
      <p:cxnSp>
        <p:nvCxnSpPr>
          <p:cNvPr id="23" name="直接连接符 22"/>
          <p:cNvCxnSpPr/>
          <p:nvPr/>
        </p:nvCxnSpPr>
        <p:spPr>
          <a:xfrm>
            <a:off x="4799856" y="1730843"/>
            <a:ext cx="0" cy="424847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017" y="1412240"/>
            <a:ext cx="11323967" cy="5025600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台架结构仿真结果</a:t>
            </a:r>
            <a:r>
              <a:rPr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1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7723" y="957028"/>
            <a:ext cx="6480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恒电流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扫描（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0.1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0.2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0.3 A/cm</a:t>
            </a:r>
            <a:r>
              <a:rPr lang="en-US" altLang="zh-CN" sz="1400" b="1" baseline="30000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）：看氧稀释和电压下降</a:t>
            </a:r>
            <a:endParaRPr lang="zh-CN" altLang="en-US" sz="1400" b="1" dirty="0">
              <a:solidFill>
                <a:srgbClr val="152A8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07568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1.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电压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638800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2.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功率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70032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3.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氧分压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56139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4.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氧计量比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638800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5.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相对湿度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070032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6.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温度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400" y="1412240"/>
            <a:ext cx="11323967" cy="5025600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台架结构仿真结果</a:t>
            </a:r>
            <a:r>
              <a:rPr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2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7722" y="957028"/>
            <a:ext cx="103708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恒电压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扫描（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0.8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0.775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、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0.75 V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）：同电压下可输出电流下降</a:t>
            </a:r>
            <a:endParaRPr lang="zh-CN" altLang="en-US" sz="1400" b="1" dirty="0">
              <a:solidFill>
                <a:srgbClr val="152A8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p"/>
            </a:pPr>
            <a:endParaRPr lang="zh-CN" altLang="en-US" sz="1400" b="1" dirty="0">
              <a:solidFill>
                <a:srgbClr val="152A8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07568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1.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电流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638800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2.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电流密度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70032" y="189641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3.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氢气消耗量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56139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4.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电堆功率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638800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5.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氧计量比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070032" y="431322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6.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阴极入口含湿量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37" y="1398905"/>
            <a:ext cx="11186126" cy="5025600"/>
          </a:xfrm>
          <a:prstGeom prst="rect">
            <a:avLst/>
          </a:prstGeom>
        </p:spPr>
      </p:pic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 wrap="square"/>
          <a:lstStyle/>
          <a:p>
            <a:r>
              <a:rPr lang="zh-CN" altLang="en-US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台架结构仿真结果</a:t>
            </a:r>
            <a:r>
              <a:rPr lang="en-US" altLang="zh-CN" sz="2400" dirty="0">
                <a:solidFill>
                  <a:schemeClr val="accent1"/>
                </a:solidFill>
                <a:latin typeface="Arial" panose="020B0604020202020204" pitchFamily="34" charset="0"/>
                <a:sym typeface="+mn-ea"/>
              </a:rPr>
              <a:t>1</a:t>
            </a:r>
            <a:endParaRPr lang="zh-CN" altLang="en-US" sz="2400" dirty="0">
              <a:solidFill>
                <a:schemeClr val="accent1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7723" y="957028"/>
            <a:ext cx="64807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恒氧分压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EGR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扫描（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0-0.25EGR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0.1 A/cm</a:t>
            </a:r>
            <a:r>
              <a:rPr lang="en-US" altLang="zh-CN" sz="1400" b="1" baseline="30000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 </a:t>
            </a:r>
            <a:r>
              <a:rPr lang="zh-CN" altLang="en-US" sz="1400" b="1" dirty="0">
                <a:solidFill>
                  <a:srgbClr val="152A8C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）：维持氧分压需要更高供气</a:t>
            </a:r>
            <a:endParaRPr lang="zh-CN" altLang="en-US" sz="1400" b="1" dirty="0">
              <a:solidFill>
                <a:srgbClr val="152A8C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07568" y="1947996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1.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氧分压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638800" y="1844824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2.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电压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070032" y="1881348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3.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计量比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156139" y="431058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4.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空压机流量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638800" y="431586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5.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阴极入口流量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070032" y="4315860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en-US" altLang="zh-CN" sz="1400" dirty="0">
                <a:solidFill>
                  <a:schemeClr val="accent4"/>
                </a:solidFill>
                <a:latin typeface="+mj-lt"/>
              </a:rPr>
              <a:t>6.</a:t>
            </a:r>
            <a:r>
              <a:rPr lang="zh-CN" altLang="en-US" sz="1400" dirty="0">
                <a:solidFill>
                  <a:schemeClr val="accent4"/>
                </a:solidFill>
                <a:latin typeface="+mj-lt"/>
              </a:rPr>
              <a:t>入堆压力</a:t>
            </a:r>
            <a:endParaRPr lang="zh-CN" altLang="en-US" sz="1400" dirty="0">
              <a:solidFill>
                <a:schemeClr val="accent4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477723" y="835978"/>
            <a:ext cx="11233150" cy="1176830"/>
          </a:xfrm>
        </p:spPr>
        <p:txBody>
          <a:bodyPr/>
          <a:p>
            <a:pPr>
              <a:lnSpc>
                <a:spcPct val="150000"/>
              </a:lnSpc>
            </a:pPr>
            <a:r>
              <a:rPr lang="zh-CN" altLang="en-US" sz="1400"/>
              <a:t>寿命模块基于文献中的负载谱经验寿命框架，并结合低负荷高电位控制与 </a:t>
            </a:r>
            <a:r>
              <a:rPr lang="en-US" altLang="zh-CN" sz="1400"/>
              <a:t>cEGR </a:t>
            </a:r>
            <a:r>
              <a:rPr lang="zh-CN" altLang="en-US" sz="1400"/>
              <a:t>自加湿机理，构建了适用于 </a:t>
            </a:r>
            <a:r>
              <a:rPr lang="en-US" altLang="zh-CN" sz="1400"/>
              <a:t>PEMFC/cEGR </a:t>
            </a:r>
            <a:r>
              <a:rPr lang="zh-CN" altLang="en-US" sz="1400"/>
              <a:t>稳态工况对比的相对寿命评估模型。</a:t>
            </a:r>
            <a:endParaRPr lang="zh-CN" altLang="en-US" sz="140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lang="en-US" altLang="zh-CN" sz="2400"/>
              <a:t>CEGR-PEMFC</a:t>
            </a:r>
            <a:r>
              <a:rPr lang="zh-CN" altLang="en-US" sz="2400"/>
              <a:t>寿命影响</a:t>
            </a:r>
            <a:endParaRPr lang="zh-CN" altLang="en-US" sz="2400"/>
          </a:p>
        </p:txBody>
      </p:sp>
      <p:pic>
        <p:nvPicPr>
          <p:cNvPr id="4" name="图片 3" descr="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825" y="1556385"/>
            <a:ext cx="9654628" cy="50256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2.30000000000007,&quot;left&quot;:169.77472440944882,&quot;top&quot;:149.3236220472441,&quot;width&quot;:616.4010236220472}"/>
</p:tagLst>
</file>

<file path=ppt/tags/tag2.xml><?xml version="1.0" encoding="utf-8"?>
<p:tagLst xmlns:p="http://schemas.openxmlformats.org/presentationml/2006/main">
  <p:tag name="KSO_WM_DIAGRAM_VIRTUALLY_FRAME" val="{&quot;height&quot;:262.30000000000007,&quot;left&quot;:169.77472440944882,&quot;top&quot;:149.3236220472441,&quot;width&quot;:616.4010236220472}"/>
</p:tagLst>
</file>

<file path=ppt/tags/tag3.xml><?xml version="1.0" encoding="utf-8"?>
<p:tagLst xmlns:p="http://schemas.openxmlformats.org/presentationml/2006/main">
  <p:tag name="KSO_WM_DIAGRAM_VIRTUALLY_FRAME" val="{&quot;height&quot;:262.30000000000007,&quot;left&quot;:169.77472440944882,&quot;top&quot;:149.3236220472441,&quot;width&quot;:616.4010236220472}"/>
</p:tagLst>
</file>

<file path=ppt/tags/tag4.xml><?xml version="1.0" encoding="utf-8"?>
<p:tagLst xmlns:p="http://schemas.openxmlformats.org/presentationml/2006/main">
  <p:tag name="KSO_WM_DIAGRAM_VIRTUALLY_FRAME" val="{&quot;height&quot;:262.30000000000007,&quot;left&quot;:169.77472440944882,&quot;top&quot;:149.3236220472441,&quot;width&quot;:616.4010236220472}"/>
</p:tagLst>
</file>

<file path=ppt/tags/tag5.xml><?xml version="1.0" encoding="utf-8"?>
<p:tagLst xmlns:p="http://schemas.openxmlformats.org/presentationml/2006/main">
  <p:tag name="KSO_WM_DIAGRAM_VIRTUALLY_FRAME" val="{&quot;height&quot;:262.30000000000007,&quot;left&quot;:169.77472440944882,&quot;top&quot;:149.3236220472441,&quot;width&quot;:616.4010236220472}"/>
</p:tagLst>
</file>

<file path=ppt/tags/tag6.xml><?xml version="1.0" encoding="utf-8"?>
<p:tagLst xmlns:p="http://schemas.openxmlformats.org/presentationml/2006/main">
  <p:tag name="KSO_WM_DIAGRAM_VIRTUALLY_FRAME" val="{&quot;height&quot;:262.30000000000007,&quot;left&quot;:169.77472440944882,&quot;top&quot;:149.3236220472441,&quot;width&quot;:616.4010236220472}"/>
</p:tagLst>
</file>

<file path=ppt/theme/theme1.xml><?xml version="1.0" encoding="utf-8"?>
<a:theme xmlns:a="http://schemas.openxmlformats.org/drawingml/2006/main" name="Office 主题​​">
  <a:themeElements>
    <a:clrScheme name="VI标准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152A8C"/>
      </a:accent1>
      <a:accent2>
        <a:srgbClr val="2796D4"/>
      </a:accent2>
      <a:accent3>
        <a:srgbClr val="EDEDED"/>
      </a:accent3>
      <a:accent4>
        <a:srgbClr val="B10011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默认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36000" tIns="36000" rIns="36000" bIns="36000" rtlCol="0">
        <a:noAutofit/>
      </a:bodyPr>
      <a:lstStyle>
        <a:defPPr algn="l">
          <a:spcBef>
            <a:spcPts val="600"/>
          </a:spcBef>
          <a:defRPr dirty="0" err="1" smtClean="0">
            <a:solidFill>
              <a:srgbClr val="003B90"/>
            </a:solidFill>
            <a:latin typeface="+mj-lt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793</Words>
  <Application>WPS 演示</Application>
  <PresentationFormat>宽屏</PresentationFormat>
  <Paragraphs>138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-apple-system</vt:lpstr>
      <vt:lpstr>Liberation Mono</vt:lpstr>
      <vt:lpstr>Arial Unicode MS</vt:lpstr>
      <vt:lpstr>等线</vt:lpstr>
      <vt:lpstr>Calibri</vt:lpstr>
      <vt:lpstr>-apple-system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一汽解放PPT模板</dc:title>
  <dc:creator>一汽解放</dc:creator>
  <cp:lastModifiedBy>WPS_1632448344</cp:lastModifiedBy>
  <cp:revision>1005</cp:revision>
  <cp:lastPrinted>2023-05-19T05:02:00Z</cp:lastPrinted>
  <dcterms:created xsi:type="dcterms:W3CDTF">2015-12-28T03:19:00Z</dcterms:created>
  <dcterms:modified xsi:type="dcterms:W3CDTF">2026-06-08T05:20:50Z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BD4BD74D07494004974F27AABDF40CFE_13</vt:lpwstr>
  </property>
  <property fmtid="{D5CDD505-2E9C-101B-9397-08002B2CF9AE}" pid="3" name="KSOProductBuildVer">
    <vt:lpwstr>2052-12.1.0.26375</vt:lpwstr>
  </property>
</Properties>
</file>